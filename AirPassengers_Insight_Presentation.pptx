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78"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5356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lab.research.google.com/drive/1zYTwEQhvUw7NX6UncWgBOzjvSUatQeaM#scrollTo=NLUC8pLheIN6"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colab.research.google.com/drive/1zYTwEQhvUw7NX6UncWgBOzjvSUatQeaM#scrollTo=NLUC8pLheIN6"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1828800"/>
            <a:ext cx="6400800" cy="6400800"/>
          </a:xfrm>
          <a:prstGeom prst="ellipse">
            <a:avLst/>
          </a:prstGeom>
          <a:solidFill>
            <a:srgbClr val="065A82">
              <a:alpha val="45000"/>
            </a:srgbClr>
          </a:solidFill>
          <a:ln/>
        </p:spPr>
      </p:sp>
      <p:sp>
        <p:nvSpPr>
          <p:cNvPr id="3" name="Shape 1"/>
          <p:cNvSpPr/>
          <p:nvPr/>
        </p:nvSpPr>
        <p:spPr>
          <a:xfrm>
            <a:off x="10241280" y="3291840"/>
            <a:ext cx="4572000" cy="4572000"/>
          </a:xfrm>
          <a:prstGeom prst="ellipse">
            <a:avLst/>
          </a:prstGeom>
          <a:solidFill>
            <a:srgbClr val="1C7293">
              <a:alpha val="40000"/>
            </a:srgbClr>
          </a:solidFill>
          <a:ln/>
        </p:spPr>
      </p:sp>
      <p:sp>
        <p:nvSpPr>
          <p:cNvPr id="4" name="Text 2"/>
          <p:cNvSpPr txBox="1"/>
          <p:nvPr/>
        </p:nvSpPr>
        <p:spPr>
          <a:xfrm>
            <a:off x="822960" y="1965960"/>
            <a:ext cx="9144000" cy="365760"/>
          </a:xfrm>
          <a:prstGeom prst="rect">
            <a:avLst/>
          </a:prstGeom>
          <a:noFill/>
          <a:ln/>
        </p:spPr>
        <p:txBody>
          <a:bodyPr wrap="square" lIns="0" tIns="0" rIns="0" bIns="0" rtlCol="0" anchor="ctr"/>
          <a:lstStyle/>
          <a:p>
            <a:pPr marL="0" indent="0">
              <a:buNone/>
            </a:pPr>
            <a:r>
              <a:rPr lang="en-US" sz="1400" b="1" kern="0" spc="300" dirty="0">
                <a:solidFill>
                  <a:srgbClr val="9FC7DE"/>
                </a:solidFill>
                <a:latin typeface="Calibri" pitchFamily="34" charset="0"/>
                <a:ea typeface="Calibri" pitchFamily="34" charset="-122"/>
                <a:cs typeface="Calibri" pitchFamily="34" charset="-120"/>
              </a:rPr>
              <a:t>ANALYSIS TIME SERIES</a:t>
            </a:r>
            <a:endParaRPr lang="en-US" sz="1400" dirty="0"/>
          </a:p>
        </p:txBody>
      </p:sp>
      <p:sp>
        <p:nvSpPr>
          <p:cNvPr id="5" name="Text 3"/>
          <p:cNvSpPr txBox="1"/>
          <p:nvPr/>
        </p:nvSpPr>
        <p:spPr>
          <a:xfrm>
            <a:off x="822960" y="2331720"/>
            <a:ext cx="6288054" cy="1737360"/>
          </a:xfrm>
          <a:prstGeom prst="rect">
            <a:avLst/>
          </a:prstGeom>
          <a:noFill/>
          <a:ln/>
        </p:spPr>
        <p:txBody>
          <a:bodyPr wrap="square" lIns="0" tIns="0" rIns="0" bIns="0" rtlCol="0" anchor="ctr"/>
          <a:lstStyle/>
          <a:p>
            <a:pPr>
              <a:lnSpc>
                <a:spcPct val="108000"/>
              </a:lnSpc>
            </a:pPr>
            <a:r>
              <a:rPr lang="en-US" sz="4200" b="1" dirty="0">
                <a:solidFill>
                  <a:srgbClr val="FFFFFF"/>
                </a:solidFill>
                <a:latin typeface="Cambria" pitchFamily="34" charset="0"/>
                <a:ea typeface="Cambria" pitchFamily="34" charset="-122"/>
                <a:cs typeface="Cambria" pitchFamily="34" charset="-120"/>
              </a:rPr>
              <a:t>Airline Passenger Data 1949–1960</a:t>
            </a:r>
            <a:endParaRPr lang="en-US" sz="4200" dirty="0"/>
          </a:p>
        </p:txBody>
      </p:sp>
      <p:sp>
        <p:nvSpPr>
          <p:cNvPr id="6" name="Text 4"/>
          <p:cNvSpPr txBox="1"/>
          <p:nvPr/>
        </p:nvSpPr>
        <p:spPr>
          <a:xfrm>
            <a:off x="822960" y="4160520"/>
            <a:ext cx="8686800" cy="640080"/>
          </a:xfrm>
          <a:prstGeom prst="rect">
            <a:avLst/>
          </a:prstGeom>
          <a:noFill/>
          <a:ln/>
        </p:spPr>
        <p:txBody>
          <a:bodyPr wrap="square" lIns="0" tIns="0" rIns="0" bIns="0" rtlCol="0" anchor="ctr"/>
          <a:lstStyle/>
          <a:p>
            <a:pPr marL="0" indent="0">
              <a:buNone/>
            </a:pPr>
            <a:r>
              <a:rPr lang="en-US" sz="1600" i="1" dirty="0">
                <a:solidFill>
                  <a:srgbClr val="CADCE8"/>
                </a:solidFill>
                <a:latin typeface="Calibri" pitchFamily="34" charset="0"/>
                <a:ea typeface="Calibri" pitchFamily="34" charset="-122"/>
                <a:cs typeface="Calibri" pitchFamily="34" charset="-120"/>
              </a:rPr>
              <a:t>Data Understanding, Processing, Pattern Analysis, and Forecasting-Based Strategic </a:t>
            </a:r>
            <a:r>
              <a:rPr lang="en-US" sz="1600" i="1" dirty="0" err="1">
                <a:solidFill>
                  <a:srgbClr val="CADCE8"/>
                </a:solidFill>
                <a:latin typeface="Calibri" pitchFamily="34" charset="0"/>
                <a:ea typeface="Calibri" pitchFamily="34" charset="-122"/>
                <a:cs typeface="Calibri" pitchFamily="34" charset="-120"/>
              </a:rPr>
              <a:t>Recomendation</a:t>
            </a:r>
            <a:endParaRPr lang="en-US" sz="1600" dirty="0"/>
          </a:p>
        </p:txBody>
      </p:sp>
      <p:sp>
        <p:nvSpPr>
          <p:cNvPr id="7" name="Shape 5"/>
          <p:cNvSpPr/>
          <p:nvPr/>
        </p:nvSpPr>
        <p:spPr>
          <a:xfrm flipV="1">
            <a:off x="841248" y="4892040"/>
            <a:ext cx="8686800" cy="45720"/>
          </a:xfrm>
          <a:prstGeom prst="line">
            <a:avLst/>
          </a:prstGeom>
          <a:noFill/>
          <a:ln w="31750">
            <a:solidFill>
              <a:srgbClr val="1C7293"/>
            </a:solidFill>
            <a:prstDash val="solid"/>
          </a:ln>
        </p:spPr>
      </p:sp>
      <p:sp>
        <p:nvSpPr>
          <p:cNvPr id="8" name="Text 6"/>
          <p:cNvSpPr txBox="1"/>
          <p:nvPr/>
        </p:nvSpPr>
        <p:spPr>
          <a:xfrm>
            <a:off x="822960" y="5074920"/>
            <a:ext cx="9144000" cy="365760"/>
          </a:xfrm>
          <a:prstGeom prst="rect">
            <a:avLst/>
          </a:prstGeom>
          <a:noFill/>
          <a:ln/>
        </p:spPr>
        <p:txBody>
          <a:bodyPr wrap="square" lIns="0" tIns="0" rIns="0" bIns="0" rtlCol="0" anchor="ctr"/>
          <a:lstStyle/>
          <a:p>
            <a:pPr marL="0" indent="0">
              <a:buNone/>
            </a:pPr>
            <a:r>
              <a:rPr lang="en-US" sz="1200" dirty="0">
                <a:solidFill>
                  <a:srgbClr val="9FC7DE"/>
                </a:solidFill>
                <a:latin typeface="Calibri" pitchFamily="34" charset="0"/>
                <a:ea typeface="Calibri" pitchFamily="34" charset="-122"/>
                <a:cs typeface="Calibri" pitchFamily="34" charset="-120"/>
              </a:rPr>
              <a:t>Prepared By: Muhammad Hafizh Rifandi</a:t>
            </a:r>
            <a:endParaRPr lang="en-US" sz="1200" dirty="0"/>
          </a:p>
        </p:txBody>
      </p:sp>
      <p:sp>
        <p:nvSpPr>
          <p:cNvPr id="10" name="TextBox 9">
            <a:extLst>
              <a:ext uri="{FF2B5EF4-FFF2-40B4-BE49-F238E27FC236}">
                <a16:creationId xmlns:a16="http://schemas.microsoft.com/office/drawing/2014/main" id="{6CAE609B-5848-AA61-6B56-B2070D63501A}"/>
              </a:ext>
            </a:extLst>
          </p:cNvPr>
          <p:cNvSpPr txBox="1"/>
          <p:nvPr/>
        </p:nvSpPr>
        <p:spPr>
          <a:xfrm>
            <a:off x="676478" y="6321623"/>
            <a:ext cx="4163627" cy="307777"/>
          </a:xfrm>
          <a:prstGeom prst="rect">
            <a:avLst/>
          </a:prstGeom>
          <a:noFill/>
        </p:spPr>
        <p:txBody>
          <a:bodyPr wrap="square" rtlCol="0">
            <a:spAutoFit/>
          </a:bodyPr>
          <a:lstStyle/>
          <a:p>
            <a:r>
              <a:rPr lang="en-US" sz="1400" dirty="0">
                <a:solidFill>
                  <a:schemeClr val="bg2"/>
                </a:solidFill>
              </a:rPr>
              <a:t>Dataset : </a:t>
            </a:r>
            <a:r>
              <a:rPr lang="en-US" sz="1400" dirty="0">
                <a:solidFill>
                  <a:schemeClr val="bg2"/>
                </a:solidFill>
                <a:hlinkClick r:id="rId3"/>
              </a:rPr>
              <a:t>Airline Passenger Dataset </a:t>
            </a:r>
            <a:r>
              <a:rPr lang="en-US" sz="1400" dirty="0" err="1">
                <a:solidFill>
                  <a:schemeClr val="bg2"/>
                </a:solidFill>
                <a:hlinkClick r:id="rId3"/>
              </a:rPr>
              <a:t>Colab</a:t>
            </a:r>
            <a:r>
              <a:rPr lang="en-US" sz="1400" dirty="0">
                <a:solidFill>
                  <a:schemeClr val="bg2"/>
                </a:solidFill>
                <a:hlinkClick r:id="rId3"/>
              </a:rPr>
              <a:t> </a:t>
            </a:r>
            <a:endParaRPr lang="en-ID" sz="1400"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5532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PRESENTATION MAP</a:t>
            </a:r>
            <a:endParaRPr lang="en-US" sz="1200" dirty="0"/>
          </a:p>
        </p:txBody>
      </p:sp>
      <p:sp>
        <p:nvSpPr>
          <p:cNvPr id="3" name="Text 1"/>
          <p:cNvSpPr txBox="1"/>
          <p:nvPr/>
        </p:nvSpPr>
        <p:spPr>
          <a:xfrm>
            <a:off x="67056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Agenda</a:t>
            </a:r>
            <a:endParaRPr lang="en-US" sz="3200" dirty="0"/>
          </a:p>
        </p:txBody>
      </p:sp>
      <p:sp>
        <p:nvSpPr>
          <p:cNvPr id="4" name="Shape 2"/>
          <p:cNvSpPr/>
          <p:nvPr/>
        </p:nvSpPr>
        <p:spPr>
          <a:xfrm>
            <a:off x="655320" y="1783080"/>
            <a:ext cx="11064240" cy="713232"/>
          </a:xfrm>
          <a:prstGeom prst="roundRect">
            <a:avLst>
              <a:gd name="adj" fmla="val 10256"/>
            </a:avLst>
          </a:prstGeom>
          <a:solidFill>
            <a:srgbClr val="EAF4F8"/>
          </a:solidFill>
          <a:ln w="12700">
            <a:solidFill>
              <a:srgbClr val="DCE9EF"/>
            </a:solidFill>
            <a:prstDash val="solid"/>
          </a:ln>
        </p:spPr>
      </p:sp>
      <p:sp>
        <p:nvSpPr>
          <p:cNvPr id="5" name="Text 3"/>
          <p:cNvSpPr txBox="1"/>
          <p:nvPr/>
        </p:nvSpPr>
        <p:spPr>
          <a:xfrm>
            <a:off x="929640" y="1837944"/>
            <a:ext cx="914400" cy="603504"/>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2026920" y="1828800"/>
            <a:ext cx="4023360" cy="60350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Data Understanding</a:t>
            </a:r>
            <a:endParaRPr lang="en-US" sz="1600" dirty="0"/>
          </a:p>
        </p:txBody>
      </p:sp>
      <p:sp>
        <p:nvSpPr>
          <p:cNvPr id="7" name="Text 5"/>
          <p:cNvSpPr txBox="1"/>
          <p:nvPr/>
        </p:nvSpPr>
        <p:spPr>
          <a:xfrm>
            <a:off x="6141720" y="1828800"/>
            <a:ext cx="5394960" cy="603504"/>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Dataset overview, time range, and core variables</a:t>
            </a:r>
            <a:endParaRPr lang="en-US" sz="1300" dirty="0"/>
          </a:p>
        </p:txBody>
      </p:sp>
      <p:sp>
        <p:nvSpPr>
          <p:cNvPr id="8" name="Shape 6"/>
          <p:cNvSpPr/>
          <p:nvPr/>
        </p:nvSpPr>
        <p:spPr>
          <a:xfrm>
            <a:off x="655320" y="2642616"/>
            <a:ext cx="11064240" cy="713232"/>
          </a:xfrm>
          <a:prstGeom prst="roundRect">
            <a:avLst>
              <a:gd name="adj" fmla="val 10256"/>
            </a:avLst>
          </a:prstGeom>
          <a:solidFill>
            <a:srgbClr val="FFFFFF"/>
          </a:solidFill>
          <a:ln w="12700">
            <a:solidFill>
              <a:srgbClr val="DCE9EF"/>
            </a:solidFill>
            <a:prstDash val="solid"/>
          </a:ln>
        </p:spPr>
      </p:sp>
      <p:sp>
        <p:nvSpPr>
          <p:cNvPr id="9" name="Text 7"/>
          <p:cNvSpPr txBox="1"/>
          <p:nvPr/>
        </p:nvSpPr>
        <p:spPr>
          <a:xfrm>
            <a:off x="929640" y="2697480"/>
            <a:ext cx="914400" cy="603504"/>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02</a:t>
            </a:r>
            <a:endParaRPr lang="en-US" sz="2600" dirty="0"/>
          </a:p>
        </p:txBody>
      </p:sp>
      <p:sp>
        <p:nvSpPr>
          <p:cNvPr id="10" name="Text 8"/>
          <p:cNvSpPr txBox="1"/>
          <p:nvPr/>
        </p:nvSpPr>
        <p:spPr>
          <a:xfrm>
            <a:off x="2026920" y="2688336"/>
            <a:ext cx="4023360" cy="60350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Data Processing Methods</a:t>
            </a:r>
            <a:endParaRPr lang="en-US" sz="1600" dirty="0"/>
          </a:p>
        </p:txBody>
      </p:sp>
      <p:sp>
        <p:nvSpPr>
          <p:cNvPr id="11" name="Text 9"/>
          <p:cNvSpPr txBox="1"/>
          <p:nvPr/>
        </p:nvSpPr>
        <p:spPr>
          <a:xfrm>
            <a:off x="6141720" y="2688336"/>
            <a:ext cx="5394960" cy="603504"/>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Date parsing, missing values, and transformations</a:t>
            </a:r>
            <a:endParaRPr lang="en-US" sz="1300" dirty="0"/>
          </a:p>
        </p:txBody>
      </p:sp>
      <p:sp>
        <p:nvSpPr>
          <p:cNvPr id="12" name="Shape 10"/>
          <p:cNvSpPr/>
          <p:nvPr/>
        </p:nvSpPr>
        <p:spPr>
          <a:xfrm>
            <a:off x="655320" y="3502152"/>
            <a:ext cx="11064240" cy="713232"/>
          </a:xfrm>
          <a:prstGeom prst="roundRect">
            <a:avLst>
              <a:gd name="adj" fmla="val 10256"/>
            </a:avLst>
          </a:prstGeom>
          <a:solidFill>
            <a:srgbClr val="EAF4F8"/>
          </a:solidFill>
          <a:ln w="12700">
            <a:solidFill>
              <a:srgbClr val="DCE9EF"/>
            </a:solidFill>
            <a:prstDash val="solid"/>
          </a:ln>
        </p:spPr>
      </p:sp>
      <p:sp>
        <p:nvSpPr>
          <p:cNvPr id="13" name="Text 11"/>
          <p:cNvSpPr txBox="1"/>
          <p:nvPr/>
        </p:nvSpPr>
        <p:spPr>
          <a:xfrm>
            <a:off x="929640" y="3557016"/>
            <a:ext cx="914400" cy="603504"/>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03</a:t>
            </a:r>
            <a:endParaRPr lang="en-US" sz="2600" dirty="0"/>
          </a:p>
        </p:txBody>
      </p:sp>
      <p:sp>
        <p:nvSpPr>
          <p:cNvPr id="14" name="Text 12"/>
          <p:cNvSpPr txBox="1"/>
          <p:nvPr/>
        </p:nvSpPr>
        <p:spPr>
          <a:xfrm>
            <a:off x="2026920" y="3547872"/>
            <a:ext cx="4023360" cy="60350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Analysis &amp; Visualization</a:t>
            </a:r>
            <a:endParaRPr lang="en-US" sz="1600" dirty="0"/>
          </a:p>
        </p:txBody>
      </p:sp>
      <p:sp>
        <p:nvSpPr>
          <p:cNvPr id="15" name="Text 13"/>
          <p:cNvSpPr txBox="1"/>
          <p:nvPr/>
        </p:nvSpPr>
        <p:spPr>
          <a:xfrm>
            <a:off x="6141720" y="3547872"/>
            <a:ext cx="5394960" cy="603504"/>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Decomposition, smoothing, stationarity testing, forecasting</a:t>
            </a:r>
            <a:endParaRPr lang="en-US" sz="1300" dirty="0"/>
          </a:p>
        </p:txBody>
      </p:sp>
      <p:sp>
        <p:nvSpPr>
          <p:cNvPr id="16" name="Shape 14"/>
          <p:cNvSpPr/>
          <p:nvPr/>
        </p:nvSpPr>
        <p:spPr>
          <a:xfrm>
            <a:off x="655320" y="4361688"/>
            <a:ext cx="11064240" cy="713232"/>
          </a:xfrm>
          <a:prstGeom prst="roundRect">
            <a:avLst>
              <a:gd name="adj" fmla="val 10256"/>
            </a:avLst>
          </a:prstGeom>
          <a:solidFill>
            <a:srgbClr val="FFFFFF"/>
          </a:solidFill>
          <a:ln w="12700">
            <a:solidFill>
              <a:srgbClr val="DCE9EF"/>
            </a:solidFill>
            <a:prstDash val="solid"/>
          </a:ln>
        </p:spPr>
      </p:sp>
      <p:sp>
        <p:nvSpPr>
          <p:cNvPr id="17" name="Text 15"/>
          <p:cNvSpPr txBox="1"/>
          <p:nvPr/>
        </p:nvSpPr>
        <p:spPr>
          <a:xfrm>
            <a:off x="929640" y="4416552"/>
            <a:ext cx="914400" cy="603504"/>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04</a:t>
            </a:r>
            <a:endParaRPr lang="en-US" sz="2600" dirty="0"/>
          </a:p>
        </p:txBody>
      </p:sp>
      <p:sp>
        <p:nvSpPr>
          <p:cNvPr id="18" name="Text 16"/>
          <p:cNvSpPr txBox="1"/>
          <p:nvPr/>
        </p:nvSpPr>
        <p:spPr>
          <a:xfrm>
            <a:off x="2026920" y="4407408"/>
            <a:ext cx="4023360" cy="60350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Insight &amp; Recommendation</a:t>
            </a:r>
            <a:endParaRPr lang="en-US" sz="1600" dirty="0"/>
          </a:p>
        </p:txBody>
      </p:sp>
      <p:sp>
        <p:nvSpPr>
          <p:cNvPr id="19" name="Text 17"/>
          <p:cNvSpPr txBox="1"/>
          <p:nvPr/>
        </p:nvSpPr>
        <p:spPr>
          <a:xfrm>
            <a:off x="6141720" y="4407408"/>
            <a:ext cx="5394960" cy="603504"/>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Key findings and data-driven strategic recommendations</a:t>
            </a:r>
            <a:endParaRPr lang="en-US" sz="1300" dirty="0"/>
          </a:p>
        </p:txBody>
      </p:sp>
      <p:sp>
        <p:nvSpPr>
          <p:cNvPr id="20" name="Shape 18"/>
          <p:cNvSpPr/>
          <p:nvPr/>
        </p:nvSpPr>
        <p:spPr>
          <a:xfrm>
            <a:off x="655320" y="5221224"/>
            <a:ext cx="11064240" cy="713232"/>
          </a:xfrm>
          <a:prstGeom prst="roundRect">
            <a:avLst>
              <a:gd name="adj" fmla="val 10256"/>
            </a:avLst>
          </a:prstGeom>
          <a:solidFill>
            <a:srgbClr val="EAF4F8"/>
          </a:solidFill>
          <a:ln w="12700">
            <a:solidFill>
              <a:srgbClr val="DCE9EF"/>
            </a:solidFill>
            <a:prstDash val="solid"/>
          </a:ln>
        </p:spPr>
      </p:sp>
      <p:sp>
        <p:nvSpPr>
          <p:cNvPr id="21" name="Text 19"/>
          <p:cNvSpPr txBox="1"/>
          <p:nvPr/>
        </p:nvSpPr>
        <p:spPr>
          <a:xfrm>
            <a:off x="929640" y="5276088"/>
            <a:ext cx="914400" cy="603504"/>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05</a:t>
            </a:r>
            <a:endParaRPr lang="en-US" sz="2600" dirty="0"/>
          </a:p>
        </p:txBody>
      </p:sp>
      <p:sp>
        <p:nvSpPr>
          <p:cNvPr id="22" name="Text 20"/>
          <p:cNvSpPr txBox="1"/>
          <p:nvPr/>
        </p:nvSpPr>
        <p:spPr>
          <a:xfrm>
            <a:off x="2026920" y="5266944"/>
            <a:ext cx="4023360" cy="60350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Reference &amp; Documentation</a:t>
            </a:r>
            <a:endParaRPr lang="en-US" sz="1600" dirty="0"/>
          </a:p>
        </p:txBody>
      </p:sp>
      <p:sp>
        <p:nvSpPr>
          <p:cNvPr id="23" name="Text 21"/>
          <p:cNvSpPr txBox="1"/>
          <p:nvPr/>
        </p:nvSpPr>
        <p:spPr>
          <a:xfrm>
            <a:off x="6141720" y="5266944"/>
            <a:ext cx="5394960" cy="603504"/>
          </a:xfrm>
          <a:prstGeom prst="rect">
            <a:avLst/>
          </a:prstGeom>
          <a:noFill/>
          <a:ln/>
        </p:spPr>
        <p:txBody>
          <a:bodyPr wrap="square" lIns="0" tIns="0" rIns="0" bIns="0" rtlCol="0" anchor="ctr"/>
          <a:lstStyle/>
          <a:p>
            <a:pPr marL="0" indent="0">
              <a:buNone/>
            </a:pPr>
            <a:r>
              <a:rPr lang="en-US" sz="1300" dirty="0" err="1">
                <a:solidFill>
                  <a:srgbClr val="1B2733"/>
                </a:solidFill>
                <a:latin typeface="Calibri" pitchFamily="34" charset="0"/>
                <a:ea typeface="Calibri" pitchFamily="34" charset="-122"/>
                <a:cs typeface="Calibri" pitchFamily="34" charset="-120"/>
              </a:rPr>
              <a:t>Colab</a:t>
            </a:r>
            <a:r>
              <a:rPr lang="en-US" sz="1300" dirty="0">
                <a:solidFill>
                  <a:srgbClr val="1B2733"/>
                </a:solidFill>
                <a:latin typeface="Calibri" pitchFamily="34" charset="0"/>
                <a:ea typeface="Calibri" pitchFamily="34" charset="-122"/>
                <a:cs typeface="Calibri" pitchFamily="34" charset="-120"/>
              </a:rPr>
              <a:t> links, dashboards, and analytical proof</a:t>
            </a:r>
            <a:endParaRPr lang="en-US" sz="1300" dirty="0"/>
          </a:p>
        </p:txBody>
      </p:sp>
      <p:sp>
        <p:nvSpPr>
          <p:cNvPr id="25" name="Text 23"/>
          <p:cNvSpPr txBox="1"/>
          <p:nvPr/>
        </p:nvSpPr>
        <p:spPr>
          <a:xfrm>
            <a:off x="1138123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01 — DATA UNDERSTANDING</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Data Understanding</a:t>
            </a:r>
            <a:endParaRPr lang="en-US" sz="3200" dirty="0"/>
          </a:p>
        </p:txBody>
      </p:sp>
      <p:sp>
        <p:nvSpPr>
          <p:cNvPr id="4" name="Text 2"/>
          <p:cNvSpPr txBox="1"/>
          <p:nvPr/>
        </p:nvSpPr>
        <p:spPr>
          <a:xfrm>
            <a:off x="548640" y="1783080"/>
            <a:ext cx="2813261" cy="502920"/>
          </a:xfrm>
          <a:prstGeom prst="rect">
            <a:avLst/>
          </a:prstGeom>
          <a:noFill/>
          <a:ln/>
        </p:spPr>
        <p:txBody>
          <a:bodyPr wrap="square" lIns="0" tIns="0" rIns="0" bIns="0" rtlCol="0" anchor="ctr"/>
          <a:lstStyle/>
          <a:p>
            <a:r>
              <a:rPr lang="en-US" sz="1300" b="1" dirty="0">
                <a:solidFill>
                  <a:srgbClr val="1C7293"/>
                </a:solidFill>
                <a:latin typeface="Calibri" pitchFamily="34" charset="0"/>
                <a:ea typeface="Calibri" pitchFamily="34" charset="-122"/>
                <a:cs typeface="Calibri" pitchFamily="34" charset="-120"/>
              </a:rPr>
              <a:t>Dataset Name</a:t>
            </a:r>
            <a:endParaRPr lang="en-US" sz="1300" dirty="0"/>
          </a:p>
        </p:txBody>
      </p:sp>
      <p:sp>
        <p:nvSpPr>
          <p:cNvPr id="5" name="Text 3"/>
          <p:cNvSpPr txBox="1"/>
          <p:nvPr/>
        </p:nvSpPr>
        <p:spPr>
          <a:xfrm>
            <a:off x="3611880" y="1783080"/>
            <a:ext cx="4134641" cy="502920"/>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AirPassengers (Monthly Airline Passengers)</a:t>
            </a:r>
            <a:endParaRPr lang="en-US" sz="1300" dirty="0"/>
          </a:p>
        </p:txBody>
      </p:sp>
      <p:sp>
        <p:nvSpPr>
          <p:cNvPr id="6" name="Shape 4"/>
          <p:cNvSpPr/>
          <p:nvPr/>
        </p:nvSpPr>
        <p:spPr>
          <a:xfrm>
            <a:off x="548640" y="2240280"/>
            <a:ext cx="6990527" cy="0"/>
          </a:xfrm>
          <a:prstGeom prst="line">
            <a:avLst/>
          </a:prstGeom>
          <a:noFill/>
          <a:ln w="12700">
            <a:solidFill>
              <a:srgbClr val="DCE9EF"/>
            </a:solidFill>
            <a:prstDash val="solid"/>
          </a:ln>
        </p:spPr>
      </p:sp>
      <p:sp>
        <p:nvSpPr>
          <p:cNvPr id="7" name="Text 5"/>
          <p:cNvSpPr txBox="1"/>
          <p:nvPr/>
        </p:nvSpPr>
        <p:spPr>
          <a:xfrm>
            <a:off x="548640" y="2350008"/>
            <a:ext cx="2813261"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Time Range</a:t>
            </a:r>
            <a:endParaRPr lang="en-US" sz="1300" dirty="0"/>
          </a:p>
        </p:txBody>
      </p:sp>
      <p:sp>
        <p:nvSpPr>
          <p:cNvPr id="8" name="Text 6"/>
          <p:cNvSpPr txBox="1"/>
          <p:nvPr/>
        </p:nvSpPr>
        <p:spPr>
          <a:xfrm>
            <a:off x="3611880" y="2350008"/>
            <a:ext cx="4134641" cy="502920"/>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January 1949 – December 1960 (12 years)</a:t>
            </a:r>
            <a:endParaRPr lang="en-US" sz="1300" dirty="0"/>
          </a:p>
        </p:txBody>
      </p:sp>
      <p:sp>
        <p:nvSpPr>
          <p:cNvPr id="9" name="Shape 7"/>
          <p:cNvSpPr/>
          <p:nvPr/>
        </p:nvSpPr>
        <p:spPr>
          <a:xfrm>
            <a:off x="548640" y="2807208"/>
            <a:ext cx="6990527" cy="0"/>
          </a:xfrm>
          <a:prstGeom prst="line">
            <a:avLst/>
          </a:prstGeom>
          <a:noFill/>
          <a:ln w="12700">
            <a:solidFill>
              <a:srgbClr val="DCE9EF"/>
            </a:solidFill>
            <a:prstDash val="solid"/>
          </a:ln>
        </p:spPr>
      </p:sp>
      <p:sp>
        <p:nvSpPr>
          <p:cNvPr id="10" name="Text 8"/>
          <p:cNvSpPr txBox="1"/>
          <p:nvPr/>
        </p:nvSpPr>
        <p:spPr>
          <a:xfrm>
            <a:off x="548640" y="2916936"/>
            <a:ext cx="2813261"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Number of Obs.</a:t>
            </a:r>
            <a:endParaRPr lang="en-US" sz="1300" dirty="0"/>
          </a:p>
        </p:txBody>
      </p:sp>
      <p:sp>
        <p:nvSpPr>
          <p:cNvPr id="11" name="Text 9"/>
          <p:cNvSpPr txBox="1"/>
          <p:nvPr/>
        </p:nvSpPr>
        <p:spPr>
          <a:xfrm>
            <a:off x="3611880" y="2916936"/>
            <a:ext cx="4134641" cy="502920"/>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144 monthly data rows</a:t>
            </a:r>
            <a:endParaRPr lang="en-US" sz="1300" dirty="0"/>
          </a:p>
        </p:txBody>
      </p:sp>
      <p:sp>
        <p:nvSpPr>
          <p:cNvPr id="12" name="Shape 10"/>
          <p:cNvSpPr/>
          <p:nvPr/>
        </p:nvSpPr>
        <p:spPr>
          <a:xfrm>
            <a:off x="548640" y="3374136"/>
            <a:ext cx="6990527" cy="0"/>
          </a:xfrm>
          <a:prstGeom prst="line">
            <a:avLst/>
          </a:prstGeom>
          <a:noFill/>
          <a:ln w="12700">
            <a:solidFill>
              <a:srgbClr val="DCE9EF"/>
            </a:solidFill>
            <a:prstDash val="solid"/>
          </a:ln>
        </p:spPr>
      </p:sp>
      <p:sp>
        <p:nvSpPr>
          <p:cNvPr id="13" name="Text 11"/>
          <p:cNvSpPr txBox="1"/>
          <p:nvPr/>
        </p:nvSpPr>
        <p:spPr>
          <a:xfrm>
            <a:off x="548640" y="3483864"/>
            <a:ext cx="2813261"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Main Variables</a:t>
            </a:r>
            <a:endParaRPr lang="en-US" sz="1300" dirty="0"/>
          </a:p>
        </p:txBody>
      </p:sp>
      <p:sp>
        <p:nvSpPr>
          <p:cNvPr id="14" name="Text 12"/>
          <p:cNvSpPr txBox="1"/>
          <p:nvPr/>
        </p:nvSpPr>
        <p:spPr>
          <a:xfrm>
            <a:off x="3611880" y="3483864"/>
            <a:ext cx="4134641" cy="502920"/>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Date (month-year) &amp; Passengers (in thousands)</a:t>
            </a:r>
            <a:endParaRPr lang="en-US" sz="1300" dirty="0"/>
          </a:p>
        </p:txBody>
      </p:sp>
      <p:sp>
        <p:nvSpPr>
          <p:cNvPr id="15" name="Shape 13"/>
          <p:cNvSpPr/>
          <p:nvPr/>
        </p:nvSpPr>
        <p:spPr>
          <a:xfrm>
            <a:off x="548640" y="3941064"/>
            <a:ext cx="6990527" cy="0"/>
          </a:xfrm>
          <a:prstGeom prst="line">
            <a:avLst/>
          </a:prstGeom>
          <a:noFill/>
          <a:ln w="12700">
            <a:solidFill>
              <a:srgbClr val="DCE9EF"/>
            </a:solidFill>
            <a:prstDash val="solid"/>
          </a:ln>
        </p:spPr>
      </p:sp>
      <p:sp>
        <p:nvSpPr>
          <p:cNvPr id="16" name="Text 14"/>
          <p:cNvSpPr txBox="1"/>
          <p:nvPr/>
        </p:nvSpPr>
        <p:spPr>
          <a:xfrm>
            <a:off x="548640" y="4050792"/>
            <a:ext cx="2813261" cy="50292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Characteristics</a:t>
            </a:r>
            <a:endParaRPr lang="en-US" sz="1300" dirty="0"/>
          </a:p>
        </p:txBody>
      </p:sp>
      <p:sp>
        <p:nvSpPr>
          <p:cNvPr id="17" name="Text 15"/>
          <p:cNvSpPr txBox="1"/>
          <p:nvPr/>
        </p:nvSpPr>
        <p:spPr>
          <a:xfrm>
            <a:off x="3611880" y="4050792"/>
            <a:ext cx="4134641" cy="502920"/>
          </a:xfrm>
          <a:prstGeom prst="rect">
            <a:avLst/>
          </a:prstGeom>
          <a:noFill/>
          <a:ln/>
        </p:spPr>
        <p:txBody>
          <a:bodyPr wrap="square" lIns="0" tIns="0" rIns="0" bIns="0" rtlCol="0" anchor="ctr"/>
          <a:lstStyle/>
          <a:p>
            <a:pPr marL="0" indent="0">
              <a:buNone/>
            </a:pPr>
            <a:r>
              <a:rPr lang="en-US" sz="1300" dirty="0">
                <a:solidFill>
                  <a:srgbClr val="1B2733"/>
                </a:solidFill>
                <a:latin typeface="Calibri" pitchFamily="34" charset="0"/>
                <a:ea typeface="Calibri" pitchFamily="34" charset="-122"/>
                <a:cs typeface="Calibri" pitchFamily="34" charset="-120"/>
              </a:rPr>
              <a:t>Long-term upward trend + clear annual seasonal pattern</a:t>
            </a:r>
            <a:endParaRPr lang="en-US" sz="1300" dirty="0"/>
          </a:p>
        </p:txBody>
      </p:sp>
      <p:sp>
        <p:nvSpPr>
          <p:cNvPr id="18" name="Shape 16"/>
          <p:cNvSpPr/>
          <p:nvPr/>
        </p:nvSpPr>
        <p:spPr>
          <a:xfrm>
            <a:off x="548641" y="4507992"/>
            <a:ext cx="6590012" cy="0"/>
          </a:xfrm>
          <a:prstGeom prst="line">
            <a:avLst/>
          </a:prstGeom>
          <a:noFill/>
          <a:ln w="12700">
            <a:solidFill>
              <a:srgbClr val="DCE9EF"/>
            </a:solidFill>
            <a:prstDash val="solid"/>
          </a:ln>
        </p:spPr>
      </p:sp>
      <p:sp>
        <p:nvSpPr>
          <p:cNvPr id="19" name="Shape 17"/>
          <p:cNvSpPr/>
          <p:nvPr/>
        </p:nvSpPr>
        <p:spPr>
          <a:xfrm>
            <a:off x="7746521" y="1783080"/>
            <a:ext cx="4252822" cy="3660188"/>
          </a:xfrm>
          <a:prstGeom prst="roundRect">
            <a:avLst>
              <a:gd name="adj" fmla="val 1644"/>
            </a:avLst>
          </a:prstGeom>
          <a:solidFill>
            <a:srgbClr val="EAF4F8"/>
          </a:solidFill>
          <a:ln w="12700">
            <a:solidFill>
              <a:srgbClr val="DCE9EF"/>
            </a:solidFill>
            <a:prstDash val="solid"/>
          </a:ln>
        </p:spPr>
      </p:sp>
      <p:pic>
        <p:nvPicPr>
          <p:cNvPr id="20" name="Image 0" descr="/home/claude/deck/images/1789140106127_image.png"/>
          <p:cNvPicPr>
            <a:picLocks noChangeAspect="1"/>
          </p:cNvPicPr>
          <p:nvPr/>
        </p:nvPicPr>
        <p:blipFill>
          <a:blip r:embed="rId3"/>
          <a:stretch>
            <a:fillRect/>
          </a:stretch>
        </p:blipFill>
        <p:spPr>
          <a:xfrm>
            <a:off x="7953875" y="1984376"/>
            <a:ext cx="3907983" cy="2559199"/>
          </a:xfrm>
          <a:prstGeom prst="rect">
            <a:avLst/>
          </a:prstGeom>
        </p:spPr>
      </p:pic>
      <p:sp>
        <p:nvSpPr>
          <p:cNvPr id="21" name="Text 18"/>
          <p:cNvSpPr txBox="1"/>
          <p:nvPr/>
        </p:nvSpPr>
        <p:spPr>
          <a:xfrm>
            <a:off x="7996500" y="4050792"/>
            <a:ext cx="2971800" cy="1737360"/>
          </a:xfrm>
          <a:prstGeom prst="rect">
            <a:avLst/>
          </a:prstGeom>
          <a:noFill/>
          <a:ln/>
        </p:spPr>
        <p:txBody>
          <a:bodyPr wrap="square" lIns="0" tIns="0" rIns="0" bIns="0" rtlCol="0" anchor="ctr"/>
          <a:lstStyle/>
          <a:p>
            <a:pPr marL="0" indent="0">
              <a:buNone/>
            </a:pPr>
            <a:r>
              <a:rPr lang="en-US" sz="1150" i="1" dirty="0">
                <a:solidFill>
                  <a:srgbClr val="5B7180"/>
                </a:solidFill>
                <a:latin typeface="Calibri" pitchFamily="34" charset="0"/>
                <a:ea typeface="Calibri" pitchFamily="34" charset="-122"/>
                <a:cs typeface="Calibri" pitchFamily="34" charset="-120"/>
              </a:rPr>
              <a:t>Raw data from 1949–1960 shows a consistent upward trend with recurring spikes every year.</a:t>
            </a:r>
            <a:endParaRPr lang="en-US" sz="1150" dirty="0"/>
          </a:p>
        </p:txBody>
      </p:sp>
      <p:sp>
        <p:nvSpPr>
          <p:cNvPr id="23" name="Text 20"/>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02 — DATA PREPROCESSING METHOD</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Data Preprocessing Steps</a:t>
            </a:r>
            <a:endParaRPr lang="en-US" sz="3200" dirty="0"/>
          </a:p>
        </p:txBody>
      </p:sp>
      <p:sp>
        <p:nvSpPr>
          <p:cNvPr id="4" name="Shape 2"/>
          <p:cNvSpPr/>
          <p:nvPr/>
        </p:nvSpPr>
        <p:spPr>
          <a:xfrm>
            <a:off x="548640" y="1783080"/>
            <a:ext cx="2724912" cy="3977640"/>
          </a:xfrm>
          <a:prstGeom prst="roundRect">
            <a:avLst>
              <a:gd name="adj" fmla="val 2685"/>
            </a:avLst>
          </a:prstGeom>
          <a:solidFill>
            <a:srgbClr val="065A82"/>
          </a:solidFill>
          <a:ln/>
        </p:spPr>
      </p:sp>
      <p:sp>
        <p:nvSpPr>
          <p:cNvPr id="5" name="Shape 3"/>
          <p:cNvSpPr/>
          <p:nvPr/>
        </p:nvSpPr>
        <p:spPr>
          <a:xfrm>
            <a:off x="777240" y="2011680"/>
            <a:ext cx="548640" cy="548640"/>
          </a:xfrm>
          <a:prstGeom prst="ellipse">
            <a:avLst/>
          </a:prstGeom>
          <a:solidFill>
            <a:srgbClr val="FFFFFF"/>
          </a:solidFill>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749808" y="2743200"/>
            <a:ext cx="2322576" cy="7315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Date Parsing</a:t>
            </a:r>
            <a:endParaRPr lang="en-US" sz="1500" dirty="0"/>
          </a:p>
        </p:txBody>
      </p:sp>
      <p:sp>
        <p:nvSpPr>
          <p:cNvPr id="8" name="Text 6"/>
          <p:cNvSpPr txBox="1"/>
          <p:nvPr/>
        </p:nvSpPr>
        <p:spPr>
          <a:xfrm>
            <a:off x="749808" y="3429000"/>
            <a:ext cx="2322576" cy="2194560"/>
          </a:xfrm>
          <a:prstGeom prst="rect">
            <a:avLst/>
          </a:prstGeom>
          <a:noFill/>
          <a:ln/>
        </p:spPr>
        <p:txBody>
          <a:bodyPr wrap="square" lIns="0" tIns="0" rIns="0" bIns="0" rtlCol="0" anchor="ctr"/>
          <a:lstStyle/>
          <a:p>
            <a:pPr marL="0" indent="0">
              <a:lnSpc>
                <a:spcPct val="115000"/>
              </a:lnSpc>
              <a:buNone/>
            </a:pPr>
            <a:r>
              <a:rPr lang="en-US" sz="1150" dirty="0">
                <a:solidFill>
                  <a:srgbClr val="EAF4F8"/>
                </a:solidFill>
                <a:latin typeface="Calibri" pitchFamily="34" charset="0"/>
                <a:ea typeface="Calibri" pitchFamily="34" charset="-122"/>
                <a:cs typeface="Calibri" pitchFamily="34" charset="-120"/>
              </a:rPr>
              <a:t>The month-year column is converted into datetime format and set as a time series index to ensure a consistent chronological sequence.</a:t>
            </a:r>
            <a:endParaRPr lang="en-US" sz="1150" dirty="0"/>
          </a:p>
        </p:txBody>
      </p:sp>
      <p:sp>
        <p:nvSpPr>
          <p:cNvPr id="9" name="Shape 7"/>
          <p:cNvSpPr/>
          <p:nvPr/>
        </p:nvSpPr>
        <p:spPr>
          <a:xfrm>
            <a:off x="3456432" y="1783080"/>
            <a:ext cx="2724912" cy="3977640"/>
          </a:xfrm>
          <a:prstGeom prst="roundRect">
            <a:avLst>
              <a:gd name="adj" fmla="val 2685"/>
            </a:avLst>
          </a:prstGeom>
          <a:solidFill>
            <a:srgbClr val="1C7293"/>
          </a:solidFill>
          <a:ln/>
        </p:spPr>
      </p:sp>
      <p:sp>
        <p:nvSpPr>
          <p:cNvPr id="10" name="Shape 8"/>
          <p:cNvSpPr/>
          <p:nvPr/>
        </p:nvSpPr>
        <p:spPr>
          <a:xfrm>
            <a:off x="3685032" y="2011680"/>
            <a:ext cx="548640" cy="548640"/>
          </a:xfrm>
          <a:prstGeom prst="ellipse">
            <a:avLst/>
          </a:prstGeom>
          <a:solidFill>
            <a:srgbClr val="FFFFFF"/>
          </a:solidFill>
          <a:ln/>
        </p:spPr>
      </p:sp>
      <p:sp>
        <p:nvSpPr>
          <p:cNvPr id="11" name="Text 9"/>
          <p:cNvSpPr txBox="1"/>
          <p:nvPr/>
        </p:nvSpPr>
        <p:spPr>
          <a:xfrm>
            <a:off x="3685032" y="2011680"/>
            <a:ext cx="54864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3657600" y="2743200"/>
            <a:ext cx="2322576" cy="7315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Handling Missing Values</a:t>
            </a:r>
            <a:endParaRPr lang="en-US" sz="1500" dirty="0"/>
          </a:p>
        </p:txBody>
      </p:sp>
      <p:sp>
        <p:nvSpPr>
          <p:cNvPr id="13" name="Text 11"/>
          <p:cNvSpPr txBox="1"/>
          <p:nvPr/>
        </p:nvSpPr>
        <p:spPr>
          <a:xfrm>
            <a:off x="3657600" y="3429000"/>
            <a:ext cx="2322576" cy="2194560"/>
          </a:xfrm>
          <a:prstGeom prst="rect">
            <a:avLst/>
          </a:prstGeom>
          <a:noFill/>
          <a:ln/>
        </p:spPr>
        <p:txBody>
          <a:bodyPr wrap="square" lIns="0" tIns="0" rIns="0" bIns="0" rtlCol="0" anchor="ctr"/>
          <a:lstStyle/>
          <a:p>
            <a:r>
              <a:rPr lang="en-ID" sz="1150" dirty="0">
                <a:solidFill>
                  <a:srgbClr val="EAF4F8"/>
                </a:solidFill>
                <a:latin typeface="Calibri" pitchFamily="34" charset="0"/>
                <a:ea typeface="Calibri" pitchFamily="34" charset="-122"/>
                <a:cs typeface="Calibri" pitchFamily="34" charset="-120"/>
              </a:rPr>
              <a:t>The dataset was checked and no missing values were found (144/144 complete), so no imputation was required.</a:t>
            </a:r>
            <a:endParaRPr lang="en-US" sz="1150" dirty="0">
              <a:solidFill>
                <a:srgbClr val="EAF4F8"/>
              </a:solidFill>
              <a:latin typeface="Calibri" pitchFamily="34" charset="0"/>
              <a:ea typeface="Calibri" pitchFamily="34" charset="-122"/>
              <a:cs typeface="Calibri" pitchFamily="34" charset="-120"/>
            </a:endParaRPr>
          </a:p>
        </p:txBody>
      </p:sp>
      <p:sp>
        <p:nvSpPr>
          <p:cNvPr id="14" name="Shape 12"/>
          <p:cNvSpPr/>
          <p:nvPr/>
        </p:nvSpPr>
        <p:spPr>
          <a:xfrm>
            <a:off x="6364224" y="1783080"/>
            <a:ext cx="2724912" cy="3977640"/>
          </a:xfrm>
          <a:prstGeom prst="roundRect">
            <a:avLst>
              <a:gd name="adj" fmla="val 2685"/>
            </a:avLst>
          </a:prstGeom>
          <a:solidFill>
            <a:srgbClr val="065A82"/>
          </a:solidFill>
          <a:ln/>
        </p:spPr>
      </p:sp>
      <p:sp>
        <p:nvSpPr>
          <p:cNvPr id="15" name="Shape 13"/>
          <p:cNvSpPr/>
          <p:nvPr/>
        </p:nvSpPr>
        <p:spPr>
          <a:xfrm>
            <a:off x="6592824" y="2011680"/>
            <a:ext cx="548640" cy="548640"/>
          </a:xfrm>
          <a:prstGeom prst="ellipse">
            <a:avLst/>
          </a:prstGeom>
          <a:solidFill>
            <a:srgbClr val="FFFFFF"/>
          </a:solidFill>
          <a:ln/>
        </p:spPr>
      </p:sp>
      <p:sp>
        <p:nvSpPr>
          <p:cNvPr id="16" name="Text 14"/>
          <p:cNvSpPr txBox="1"/>
          <p:nvPr/>
        </p:nvSpPr>
        <p:spPr>
          <a:xfrm>
            <a:off x="6592824" y="2011680"/>
            <a:ext cx="54864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6565392" y="2743200"/>
            <a:ext cx="2322576" cy="7315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Data Transformation</a:t>
            </a:r>
            <a:endParaRPr lang="en-US" sz="1500" dirty="0"/>
          </a:p>
        </p:txBody>
      </p:sp>
      <p:sp>
        <p:nvSpPr>
          <p:cNvPr id="18" name="Text 16"/>
          <p:cNvSpPr txBox="1"/>
          <p:nvPr/>
        </p:nvSpPr>
        <p:spPr>
          <a:xfrm>
            <a:off x="6565392" y="3429000"/>
            <a:ext cx="2322576" cy="2194560"/>
          </a:xfrm>
          <a:prstGeom prst="rect">
            <a:avLst/>
          </a:prstGeom>
          <a:noFill/>
          <a:ln/>
        </p:spPr>
        <p:txBody>
          <a:bodyPr wrap="square" lIns="0" tIns="0" rIns="0" bIns="0" rtlCol="0" anchor="ctr"/>
          <a:lstStyle/>
          <a:p>
            <a:pPr marL="0" indent="0">
              <a:lnSpc>
                <a:spcPct val="115000"/>
              </a:lnSpc>
              <a:buNone/>
            </a:pPr>
            <a:r>
              <a:rPr lang="en-US" sz="1150" dirty="0">
                <a:solidFill>
                  <a:srgbClr val="EAF4F8"/>
                </a:solidFill>
                <a:latin typeface="Calibri" pitchFamily="34" charset="0"/>
                <a:ea typeface="Calibri" pitchFamily="34" charset="-122"/>
                <a:cs typeface="Calibri" pitchFamily="34" charset="-120"/>
              </a:rPr>
              <a:t>Log transformation and differencing (first difference, seasonal difference lag 12) were performed to reduce the trend and achieve stationarity.</a:t>
            </a:r>
            <a:endParaRPr lang="en-US" sz="1150" dirty="0"/>
          </a:p>
        </p:txBody>
      </p:sp>
      <p:sp>
        <p:nvSpPr>
          <p:cNvPr id="19" name="Shape 17"/>
          <p:cNvSpPr/>
          <p:nvPr/>
        </p:nvSpPr>
        <p:spPr>
          <a:xfrm>
            <a:off x="9272016" y="1783080"/>
            <a:ext cx="2724912" cy="3977640"/>
          </a:xfrm>
          <a:prstGeom prst="roundRect">
            <a:avLst>
              <a:gd name="adj" fmla="val 2685"/>
            </a:avLst>
          </a:prstGeom>
          <a:solidFill>
            <a:srgbClr val="1C7293"/>
          </a:solidFill>
          <a:ln/>
        </p:spPr>
      </p:sp>
      <p:sp>
        <p:nvSpPr>
          <p:cNvPr id="20" name="Shape 18"/>
          <p:cNvSpPr/>
          <p:nvPr/>
        </p:nvSpPr>
        <p:spPr>
          <a:xfrm>
            <a:off x="9500616" y="2011680"/>
            <a:ext cx="548640" cy="548640"/>
          </a:xfrm>
          <a:prstGeom prst="ellipse">
            <a:avLst/>
          </a:prstGeom>
          <a:solidFill>
            <a:srgbClr val="FFFFFF"/>
          </a:solidFill>
          <a:ln/>
        </p:spPr>
      </p:sp>
      <p:sp>
        <p:nvSpPr>
          <p:cNvPr id="21" name="Text 19"/>
          <p:cNvSpPr txBox="1"/>
          <p:nvPr/>
        </p:nvSpPr>
        <p:spPr>
          <a:xfrm>
            <a:off x="9500616" y="2011680"/>
            <a:ext cx="548640" cy="548640"/>
          </a:xfrm>
          <a:prstGeom prst="rect">
            <a:avLst/>
          </a:prstGeom>
          <a:noFill/>
          <a:ln/>
        </p:spPr>
        <p:txBody>
          <a:bodyPr wrap="square" lIns="0" tIns="0" rIns="0" bIns="0" rtlCol="0" anchor="ctr"/>
          <a:lstStyle/>
          <a:p>
            <a:pPr marL="0" indent="0" algn="ctr">
              <a:buNone/>
            </a:pPr>
            <a:r>
              <a:rPr lang="en-US" sz="2000" b="1" dirty="0">
                <a:solidFill>
                  <a:srgbClr val="21295C"/>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9473184" y="2743200"/>
            <a:ext cx="2322576" cy="7315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Decomposition &amp; Smoothing</a:t>
            </a:r>
            <a:endParaRPr lang="en-US" sz="1500" dirty="0"/>
          </a:p>
        </p:txBody>
      </p:sp>
      <p:sp>
        <p:nvSpPr>
          <p:cNvPr id="23" name="Text 21"/>
          <p:cNvSpPr txBox="1"/>
          <p:nvPr/>
        </p:nvSpPr>
        <p:spPr>
          <a:xfrm>
            <a:off x="9473184" y="3429000"/>
            <a:ext cx="2322576" cy="2194560"/>
          </a:xfrm>
          <a:prstGeom prst="rect">
            <a:avLst/>
          </a:prstGeom>
          <a:noFill/>
          <a:ln/>
        </p:spPr>
        <p:txBody>
          <a:bodyPr wrap="square" lIns="0" tIns="0" rIns="0" bIns="0" rtlCol="0" anchor="ctr"/>
          <a:lstStyle/>
          <a:p>
            <a:pPr marL="0" indent="0">
              <a:lnSpc>
                <a:spcPct val="115000"/>
              </a:lnSpc>
              <a:buNone/>
            </a:pPr>
            <a:r>
              <a:rPr lang="en-US" sz="1150" dirty="0">
                <a:solidFill>
                  <a:srgbClr val="EAF4F8"/>
                </a:solidFill>
                <a:latin typeface="Calibri" pitchFamily="34" charset="0"/>
                <a:ea typeface="Calibri" pitchFamily="34" charset="-122"/>
                <a:cs typeface="Calibri" pitchFamily="34" charset="-120"/>
              </a:rPr>
              <a:t>Data is decomposed into trend, seasonal, and residual components (multiplicative method), and smoothed using moving average &amp; exponential smoothing.</a:t>
            </a:r>
            <a:endParaRPr lang="en-US" sz="1150" dirty="0"/>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ANALYSIS &amp; VISUALIZATION</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Annual Seasonal Pattern</a:t>
            </a:r>
            <a:endParaRPr lang="en-US" sz="3200" dirty="0"/>
          </a:p>
        </p:txBody>
      </p:sp>
      <p:pic>
        <p:nvPicPr>
          <p:cNvPr id="4" name="Image 0" descr="/home/claude/deck/images/1789140111623_image.png"/>
          <p:cNvPicPr>
            <a:picLocks noChangeAspect="1"/>
          </p:cNvPicPr>
          <p:nvPr/>
        </p:nvPicPr>
        <p:blipFill>
          <a:blip r:embed="rId3"/>
          <a:stretch>
            <a:fillRect/>
          </a:stretch>
        </p:blipFill>
        <p:spPr>
          <a:xfrm>
            <a:off x="502920" y="1691640"/>
            <a:ext cx="6949440" cy="2966624"/>
          </a:xfrm>
          <a:prstGeom prst="rect">
            <a:avLst/>
          </a:prstGeom>
        </p:spPr>
      </p:pic>
      <p:pic>
        <p:nvPicPr>
          <p:cNvPr id="5" name="Image 1" descr="/home/claude/deck/images/1789140143410_image.png"/>
          <p:cNvPicPr>
            <a:picLocks noChangeAspect="1"/>
          </p:cNvPicPr>
          <p:nvPr/>
        </p:nvPicPr>
        <p:blipFill>
          <a:blip r:embed="rId4"/>
          <a:stretch>
            <a:fillRect/>
          </a:stretch>
        </p:blipFill>
        <p:spPr>
          <a:xfrm>
            <a:off x="502920" y="4727275"/>
            <a:ext cx="6949440" cy="1856405"/>
          </a:xfrm>
          <a:prstGeom prst="rect">
            <a:avLst/>
          </a:prstGeom>
        </p:spPr>
      </p:pic>
      <p:sp>
        <p:nvSpPr>
          <p:cNvPr id="6" name="Shape 2"/>
          <p:cNvSpPr/>
          <p:nvPr/>
        </p:nvSpPr>
        <p:spPr>
          <a:xfrm>
            <a:off x="7680960" y="1691640"/>
            <a:ext cx="3977640" cy="4892040"/>
          </a:xfrm>
          <a:prstGeom prst="roundRect">
            <a:avLst>
              <a:gd name="adj" fmla="val 1839"/>
            </a:avLst>
          </a:prstGeom>
          <a:solidFill>
            <a:srgbClr val="EAF4F8"/>
          </a:solidFill>
          <a:ln w="12700">
            <a:solidFill>
              <a:srgbClr val="DCE9EF"/>
            </a:solidFill>
            <a:prstDash val="solid"/>
          </a:ln>
        </p:spPr>
      </p:sp>
      <p:sp>
        <p:nvSpPr>
          <p:cNvPr id="7" name="Text 3"/>
          <p:cNvSpPr txBox="1"/>
          <p:nvPr/>
        </p:nvSpPr>
        <p:spPr>
          <a:xfrm>
            <a:off x="7909560" y="1874520"/>
            <a:ext cx="3566160" cy="36576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Graph Reading:</a:t>
            </a:r>
            <a:endParaRPr lang="en-US" sz="1500" dirty="0"/>
          </a:p>
        </p:txBody>
      </p:sp>
      <p:sp>
        <p:nvSpPr>
          <p:cNvPr id="8" name="Text 4"/>
          <p:cNvSpPr txBox="1"/>
          <p:nvPr/>
        </p:nvSpPr>
        <p:spPr>
          <a:xfrm>
            <a:off x="7909560" y="2057400"/>
            <a:ext cx="3566160" cy="3780958"/>
          </a:xfrm>
          <a:prstGeom prst="rect">
            <a:avLst/>
          </a:prstGeom>
          <a:noFill/>
          <a:ln/>
        </p:spPr>
        <p:txBody>
          <a:bodyPr wrap="square" lIns="0" tIns="0" rIns="0" bIns="0" rtlCol="0" anchor="ctr"/>
          <a:lstStyle/>
          <a:p>
            <a:pPr marL="342900" indent="-342900">
              <a:spcAft>
                <a:spcPts val="1000"/>
              </a:spcAft>
              <a:buSzPct val="100000"/>
              <a:buChar char="•"/>
            </a:pPr>
            <a:r>
              <a:rPr lang="en-ID" sz="1400" dirty="0"/>
              <a:t>Every year (1949–1960) exhibits an identical seasonal pattern shape rising towards the middle of the year. </a:t>
            </a:r>
          </a:p>
          <a:p>
            <a:pPr marL="342900" indent="-342900">
              <a:spcAft>
                <a:spcPts val="1000"/>
              </a:spcAft>
              <a:buSzPct val="100000"/>
              <a:buChar char="•"/>
            </a:pPr>
            <a:r>
              <a:rPr lang="en-ID" sz="1400" dirty="0"/>
              <a:t>Peak demand consistently occurs in July -August (seasonal factor 1.22–1.23). </a:t>
            </a:r>
          </a:p>
          <a:p>
            <a:pPr marL="342900" indent="-342900">
              <a:spcAft>
                <a:spcPts val="1000"/>
              </a:spcAft>
              <a:buSzPct val="100000"/>
              <a:buChar char="•"/>
            </a:pPr>
            <a:r>
              <a:rPr lang="en-ID" sz="1400" dirty="0"/>
              <a:t>The lowest point occurs in November (seasonal factor 0.80), followed by December–February. </a:t>
            </a:r>
          </a:p>
          <a:p>
            <a:pPr marL="342900" indent="-342900">
              <a:spcAft>
                <a:spcPts val="1000"/>
              </a:spcAft>
              <a:buSzPct val="100000"/>
              <a:buChar char="•"/>
            </a:pPr>
            <a:r>
              <a:rPr lang="en-ID" sz="1400" dirty="0"/>
              <a:t> Each yearly line shifts progressively higher - confirming the long-term growth trend overlaying the seasonal pattern.</a:t>
            </a:r>
            <a:endParaRPr lang="en-US" sz="1250" dirty="0"/>
          </a:p>
        </p:txBody>
      </p:sp>
      <p:sp>
        <p:nvSpPr>
          <p:cNvPr id="10" name="Text 6"/>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Decomposition Time Series (Multiplicative)</a:t>
            </a:r>
            <a:endParaRPr lang="en-US" sz="3200" dirty="0"/>
          </a:p>
        </p:txBody>
      </p:sp>
      <p:pic>
        <p:nvPicPr>
          <p:cNvPr id="4" name="Image 0" descr="/home/claude/deck/images/1789140124038_image.png"/>
          <p:cNvPicPr>
            <a:picLocks noChangeAspect="1"/>
          </p:cNvPicPr>
          <p:nvPr/>
        </p:nvPicPr>
        <p:blipFill>
          <a:blip r:embed="rId3"/>
          <a:stretch>
            <a:fillRect/>
          </a:stretch>
        </p:blipFill>
        <p:spPr>
          <a:xfrm>
            <a:off x="4114800" y="1554480"/>
            <a:ext cx="7315199" cy="5006340"/>
          </a:xfrm>
          <a:prstGeom prst="rect">
            <a:avLst/>
          </a:prstGeom>
        </p:spPr>
      </p:pic>
      <p:sp>
        <p:nvSpPr>
          <p:cNvPr id="5" name="Shape 2"/>
          <p:cNvSpPr/>
          <p:nvPr/>
        </p:nvSpPr>
        <p:spPr>
          <a:xfrm>
            <a:off x="882397" y="1764792"/>
            <a:ext cx="2606040" cy="1463040"/>
          </a:xfrm>
          <a:prstGeom prst="roundRect">
            <a:avLst>
              <a:gd name="adj" fmla="val 5000"/>
            </a:avLst>
          </a:prstGeom>
          <a:solidFill>
            <a:srgbClr val="065A82"/>
          </a:solidFill>
          <a:ln/>
        </p:spPr>
      </p:sp>
      <p:sp>
        <p:nvSpPr>
          <p:cNvPr id="6" name="Text 3"/>
          <p:cNvSpPr txBox="1"/>
          <p:nvPr/>
        </p:nvSpPr>
        <p:spPr>
          <a:xfrm>
            <a:off x="1065277" y="1883664"/>
            <a:ext cx="2240280" cy="32004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Trend</a:t>
            </a:r>
            <a:endParaRPr lang="en-US" sz="1300" dirty="0"/>
          </a:p>
        </p:txBody>
      </p:sp>
      <p:sp>
        <p:nvSpPr>
          <p:cNvPr id="7" name="Text 4"/>
          <p:cNvSpPr txBox="1"/>
          <p:nvPr/>
        </p:nvSpPr>
        <p:spPr>
          <a:xfrm>
            <a:off x="1065277" y="2194560"/>
            <a:ext cx="2240280" cy="960120"/>
          </a:xfrm>
          <a:prstGeom prst="rect">
            <a:avLst/>
          </a:prstGeom>
          <a:noFill/>
          <a:ln/>
        </p:spPr>
        <p:txBody>
          <a:bodyPr wrap="square" lIns="0" tIns="0" rIns="0" bIns="0" rtlCol="0" anchor="ctr"/>
          <a:lstStyle/>
          <a:p>
            <a:pPr marL="0" indent="0">
              <a:buNone/>
            </a:pPr>
            <a:r>
              <a:rPr lang="en-US" sz="1050" dirty="0">
                <a:solidFill>
                  <a:srgbClr val="EAF4F8"/>
                </a:solidFill>
                <a:latin typeface="Calibri" pitchFamily="34" charset="0"/>
                <a:ea typeface="Calibri" pitchFamily="34" charset="-122"/>
                <a:cs typeface="Calibri" pitchFamily="34" charset="-120"/>
              </a:rPr>
              <a:t>Rises nearly linearly from ~130 (1949) to ~470 (1960).</a:t>
            </a:r>
            <a:endParaRPr lang="en-US" sz="1050" dirty="0"/>
          </a:p>
        </p:txBody>
      </p:sp>
      <p:sp>
        <p:nvSpPr>
          <p:cNvPr id="8" name="Shape 5"/>
          <p:cNvSpPr/>
          <p:nvPr/>
        </p:nvSpPr>
        <p:spPr>
          <a:xfrm>
            <a:off x="882397" y="3364992"/>
            <a:ext cx="2606040" cy="1463040"/>
          </a:xfrm>
          <a:prstGeom prst="roundRect">
            <a:avLst>
              <a:gd name="adj" fmla="val 5000"/>
            </a:avLst>
          </a:prstGeom>
          <a:solidFill>
            <a:srgbClr val="1C7293"/>
          </a:solidFill>
          <a:ln/>
        </p:spPr>
      </p:sp>
      <p:sp>
        <p:nvSpPr>
          <p:cNvPr id="9" name="Text 6"/>
          <p:cNvSpPr txBox="1"/>
          <p:nvPr/>
        </p:nvSpPr>
        <p:spPr>
          <a:xfrm>
            <a:off x="1065277" y="3483864"/>
            <a:ext cx="2240280" cy="32004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Seasonal</a:t>
            </a:r>
            <a:endParaRPr lang="en-US" sz="1300" dirty="0"/>
          </a:p>
        </p:txBody>
      </p:sp>
      <p:sp>
        <p:nvSpPr>
          <p:cNvPr id="10" name="Text 7"/>
          <p:cNvSpPr txBox="1"/>
          <p:nvPr/>
        </p:nvSpPr>
        <p:spPr>
          <a:xfrm>
            <a:off x="1065277" y="3794760"/>
            <a:ext cx="2240280" cy="960120"/>
          </a:xfrm>
          <a:prstGeom prst="rect">
            <a:avLst/>
          </a:prstGeom>
          <a:noFill/>
          <a:ln/>
        </p:spPr>
        <p:txBody>
          <a:bodyPr wrap="square" lIns="0" tIns="0" rIns="0" bIns="0" rtlCol="0" anchor="ctr"/>
          <a:lstStyle/>
          <a:p>
            <a:pPr marL="0" indent="0">
              <a:buNone/>
            </a:pPr>
            <a:r>
              <a:rPr lang="en-US" sz="1050" dirty="0">
                <a:solidFill>
                  <a:srgbClr val="EAF4F8"/>
                </a:solidFill>
                <a:latin typeface="Calibri" pitchFamily="34" charset="0"/>
                <a:ea typeface="Calibri" pitchFamily="34" charset="-122"/>
                <a:cs typeface="Calibri" pitchFamily="34" charset="-120"/>
              </a:rPr>
              <a:t>Stable repeating pattern every 12 months, factor range 0.80–1.23.</a:t>
            </a:r>
            <a:endParaRPr lang="en-US" sz="1050" dirty="0"/>
          </a:p>
        </p:txBody>
      </p:sp>
      <p:sp>
        <p:nvSpPr>
          <p:cNvPr id="11" name="Shape 8"/>
          <p:cNvSpPr/>
          <p:nvPr/>
        </p:nvSpPr>
        <p:spPr>
          <a:xfrm>
            <a:off x="882397" y="4965192"/>
            <a:ext cx="2606040" cy="1463040"/>
          </a:xfrm>
          <a:prstGeom prst="roundRect">
            <a:avLst>
              <a:gd name="adj" fmla="val 5000"/>
            </a:avLst>
          </a:prstGeom>
          <a:solidFill>
            <a:srgbClr val="21295C"/>
          </a:solidFill>
          <a:ln/>
        </p:spPr>
      </p:sp>
      <p:sp>
        <p:nvSpPr>
          <p:cNvPr id="12" name="Text 9"/>
          <p:cNvSpPr txBox="1"/>
          <p:nvPr/>
        </p:nvSpPr>
        <p:spPr>
          <a:xfrm>
            <a:off x="1065277" y="5084064"/>
            <a:ext cx="2240280" cy="32004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Residual</a:t>
            </a:r>
            <a:endParaRPr lang="en-US" sz="1300" dirty="0"/>
          </a:p>
        </p:txBody>
      </p:sp>
      <p:sp>
        <p:nvSpPr>
          <p:cNvPr id="13" name="Text 10"/>
          <p:cNvSpPr txBox="1"/>
          <p:nvPr/>
        </p:nvSpPr>
        <p:spPr>
          <a:xfrm>
            <a:off x="1065277" y="5394960"/>
            <a:ext cx="2240280" cy="960120"/>
          </a:xfrm>
          <a:prstGeom prst="rect">
            <a:avLst/>
          </a:prstGeom>
          <a:noFill/>
          <a:ln/>
        </p:spPr>
        <p:txBody>
          <a:bodyPr wrap="square" lIns="0" tIns="0" rIns="0" bIns="0" rtlCol="0" anchor="ctr"/>
          <a:lstStyle/>
          <a:p>
            <a:pPr marL="0" indent="0">
              <a:buNone/>
            </a:pPr>
            <a:r>
              <a:rPr lang="en-US" sz="1050" dirty="0">
                <a:solidFill>
                  <a:srgbClr val="EAF4F8"/>
                </a:solidFill>
                <a:latin typeface="Calibri" pitchFamily="34" charset="0"/>
                <a:ea typeface="Calibri" pitchFamily="34" charset="-122"/>
                <a:cs typeface="Calibri" pitchFamily="34" charset="-120"/>
              </a:rPr>
              <a:t>Fluctuates randomly around 1.0, with no systematic pattern remaining.</a:t>
            </a:r>
            <a:endParaRPr lang="en-US" sz="1050" dirty="0"/>
          </a:p>
        </p:txBody>
      </p:sp>
      <p:sp>
        <p:nvSpPr>
          <p:cNvPr id="15" name="Text 12"/>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6</a:t>
            </a:r>
            <a:endParaRPr lang="en-US" sz="1000" dirty="0"/>
          </a:p>
        </p:txBody>
      </p:sp>
      <p:sp>
        <p:nvSpPr>
          <p:cNvPr id="47" name="Text 0">
            <a:extLst>
              <a:ext uri="{FF2B5EF4-FFF2-40B4-BE49-F238E27FC236}">
                <a16:creationId xmlns:a16="http://schemas.microsoft.com/office/drawing/2014/main" id="{94FD63F2-2EE5-0B94-7B8C-3A7B3D0CB39F}"/>
              </a:ext>
            </a:extLst>
          </p:cNvPr>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ANALYSIS &amp; VISUALIZATION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Smoothing: Moving Average &amp; Exponential Smoothing</a:t>
            </a:r>
            <a:endParaRPr lang="en-US" sz="3200" dirty="0"/>
          </a:p>
        </p:txBody>
      </p:sp>
      <p:sp>
        <p:nvSpPr>
          <p:cNvPr id="4" name="Shape 2"/>
          <p:cNvSpPr/>
          <p:nvPr/>
        </p:nvSpPr>
        <p:spPr>
          <a:xfrm>
            <a:off x="502920" y="1691640"/>
            <a:ext cx="5486400" cy="3246120"/>
          </a:xfrm>
          <a:prstGeom prst="roundRect">
            <a:avLst>
              <a:gd name="adj" fmla="val 1690"/>
            </a:avLst>
          </a:prstGeom>
          <a:solidFill>
            <a:srgbClr val="EAF4F8"/>
          </a:solidFill>
          <a:ln w="12700">
            <a:solidFill>
              <a:srgbClr val="DCE9EF"/>
            </a:solidFill>
            <a:prstDash val="solid"/>
          </a:ln>
        </p:spPr>
      </p:sp>
      <p:pic>
        <p:nvPicPr>
          <p:cNvPr id="5" name="Image 0" descr="/home/claude/deck/images/1789140149679_image.png"/>
          <p:cNvPicPr>
            <a:picLocks noChangeAspect="1"/>
          </p:cNvPicPr>
          <p:nvPr/>
        </p:nvPicPr>
        <p:blipFill>
          <a:blip r:embed="rId3"/>
          <a:stretch>
            <a:fillRect/>
          </a:stretch>
        </p:blipFill>
        <p:spPr>
          <a:xfrm>
            <a:off x="594360" y="1783080"/>
            <a:ext cx="5303520" cy="3063240"/>
          </a:xfrm>
          <a:prstGeom prst="rect">
            <a:avLst/>
          </a:prstGeom>
        </p:spPr>
      </p:pic>
      <p:sp>
        <p:nvSpPr>
          <p:cNvPr id="6" name="Shape 3"/>
          <p:cNvSpPr/>
          <p:nvPr/>
        </p:nvSpPr>
        <p:spPr>
          <a:xfrm>
            <a:off x="6172200" y="1691640"/>
            <a:ext cx="5486400" cy="3246120"/>
          </a:xfrm>
          <a:prstGeom prst="roundRect">
            <a:avLst>
              <a:gd name="adj" fmla="val 1690"/>
            </a:avLst>
          </a:prstGeom>
          <a:solidFill>
            <a:srgbClr val="EAF4F8"/>
          </a:solidFill>
          <a:ln w="12700">
            <a:solidFill>
              <a:srgbClr val="DCE9EF"/>
            </a:solidFill>
            <a:prstDash val="solid"/>
          </a:ln>
        </p:spPr>
      </p:sp>
      <p:pic>
        <p:nvPicPr>
          <p:cNvPr id="7" name="Image 1" descr="/home/claude/deck/images/1789140162731_image.png"/>
          <p:cNvPicPr>
            <a:picLocks noChangeAspect="1"/>
          </p:cNvPicPr>
          <p:nvPr/>
        </p:nvPicPr>
        <p:blipFill>
          <a:blip r:embed="rId4"/>
          <a:stretch>
            <a:fillRect/>
          </a:stretch>
        </p:blipFill>
        <p:spPr>
          <a:xfrm>
            <a:off x="6263640" y="1783080"/>
            <a:ext cx="5303520" cy="3063240"/>
          </a:xfrm>
          <a:prstGeom prst="rect">
            <a:avLst/>
          </a:prstGeom>
        </p:spPr>
      </p:pic>
      <p:sp>
        <p:nvSpPr>
          <p:cNvPr id="8" name="Text 4"/>
          <p:cNvSpPr txBox="1"/>
          <p:nvPr/>
        </p:nvSpPr>
        <p:spPr>
          <a:xfrm>
            <a:off x="502920" y="5074920"/>
            <a:ext cx="5486400" cy="1417320"/>
          </a:xfrm>
          <a:prstGeom prst="rect">
            <a:avLst/>
          </a:prstGeom>
          <a:noFill/>
          <a:ln/>
        </p:spPr>
        <p:txBody>
          <a:bodyPr wrap="square" lIns="0" tIns="0" rIns="0" bIns="0" rtlCol="0" anchor="ctr"/>
          <a:lstStyle/>
          <a:p>
            <a:r>
              <a:rPr lang="en-US" sz="1200" b="1" dirty="0">
                <a:solidFill>
                  <a:srgbClr val="21295C"/>
                </a:solidFill>
                <a:latin typeface="Calibri" pitchFamily="34" charset="0"/>
                <a:ea typeface="Calibri" pitchFamily="34" charset="-122"/>
                <a:cs typeface="Calibri" pitchFamily="34" charset="-120"/>
              </a:rPr>
              <a:t>Moving Average (MA-3/6/12): </a:t>
            </a:r>
            <a:r>
              <a:rPr lang="en-ID" sz="1200" dirty="0"/>
              <a:t>Moving Average (MA-3/6/12): The larger the window, the smoother the curve but the higher the lag  slower to respond to changes  with MA-12 best at following the trend line.</a:t>
            </a:r>
            <a:endParaRPr lang="en-US" sz="1200" dirty="0"/>
          </a:p>
        </p:txBody>
      </p:sp>
      <mc:AlternateContent xmlns:mc="http://schemas.openxmlformats.org/markup-compatibility/2006">
        <mc:Choice xmlns:a14="http://schemas.microsoft.com/office/drawing/2010/main" Requires="a14">
          <p:sp>
            <p:nvSpPr>
              <p:cNvPr id="9" name="Text 5"/>
              <p:cNvSpPr txBox="1"/>
              <p:nvPr/>
            </p:nvSpPr>
            <p:spPr>
              <a:xfrm>
                <a:off x="6172200" y="5074920"/>
                <a:ext cx="5486400" cy="1417320"/>
              </a:xfrm>
              <a:prstGeom prst="rect">
                <a:avLst/>
              </a:prstGeom>
              <a:noFill/>
              <a:ln/>
            </p:spPr>
            <p:txBody>
              <a:bodyPr wrap="square" lIns="0" tIns="0" rIns="0" bIns="0" rtlCol="0" anchor="ctr"/>
              <a:lstStyle/>
              <a:p>
                <a:r>
                  <a:rPr lang="en-US" sz="1200" b="1" dirty="0">
                    <a:solidFill>
                      <a:srgbClr val="21295C"/>
                    </a:solidFill>
                    <a:latin typeface="Calibri" pitchFamily="34" charset="0"/>
                    <a:ea typeface="Calibri" pitchFamily="34" charset="-122"/>
                    <a:cs typeface="Calibri" pitchFamily="34" charset="-120"/>
                  </a:rPr>
                  <a:t>Exponential Smoothing: </a:t>
                </a:r>
                <a:r>
                  <a:rPr lang="en-ID" sz="1200" dirty="0"/>
                  <a:t>A small </a:t>
                </a:r>
                <a14:m>
                  <m:oMath xmlns:m="http://schemas.openxmlformats.org/officeDocument/2006/math">
                    <m:r>
                      <a:rPr lang="en-ID" i="1"/>
                      <m:t>𝛼</m:t>
                    </m:r>
                  </m:oMath>
                </a14:m>
                <a:r>
                  <a:rPr lang="en-ID" sz="1200" dirty="0"/>
                  <a:t>(0.1) produces a smooth curve but high lag; a large </a:t>
                </a:r>
                <a14:m>
                  <m:oMath xmlns:m="http://schemas.openxmlformats.org/officeDocument/2006/math">
                    <m:r>
                      <a:rPr lang="en-ID" i="1"/>
                      <m:t>𝛼</m:t>
                    </m:r>
                  </m:oMath>
                </a14:m>
                <a:r>
                  <a:rPr lang="en-ID" sz="1200" dirty="0"/>
                  <a:t>(0.8) is more responsive but closer to the original data</a:t>
                </a:r>
                <a:endParaRPr lang="en-US" sz="1200" dirty="0"/>
              </a:p>
            </p:txBody>
          </p:sp>
        </mc:Choice>
        <mc:Fallback>
          <p:sp>
            <p:nvSpPr>
              <p:cNvPr id="9" name="Text 5"/>
              <p:cNvSpPr txBox="1">
                <a:spLocks noRot="1" noChangeAspect="1" noMove="1" noResize="1" noEditPoints="1" noAdjustHandles="1" noChangeArrowheads="1" noChangeShapeType="1" noTextEdit="1"/>
              </p:cNvSpPr>
              <p:nvPr/>
            </p:nvSpPr>
            <p:spPr>
              <a:xfrm>
                <a:off x="6172200" y="5074920"/>
                <a:ext cx="5486400" cy="1417320"/>
              </a:xfrm>
              <a:prstGeom prst="rect">
                <a:avLst/>
              </a:prstGeom>
              <a:blipFill>
                <a:blip r:embed="rId5"/>
                <a:stretch>
                  <a:fillRect l="-1778"/>
                </a:stretch>
              </a:blipFill>
              <a:ln/>
            </p:spPr>
            <p:txBody>
              <a:bodyPr/>
              <a:lstStyle/>
              <a:p>
                <a:r>
                  <a:rPr lang="en-ID">
                    <a:noFill/>
                  </a:rPr>
                  <a:t> </a:t>
                </a:r>
              </a:p>
            </p:txBody>
          </p:sp>
        </mc:Fallback>
      </mc:AlternateContent>
      <p:sp>
        <p:nvSpPr>
          <p:cNvPr id="11" name="Text 7"/>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7</a:t>
            </a:r>
            <a:endParaRPr lang="en-US" sz="1000" dirty="0"/>
          </a:p>
        </p:txBody>
      </p:sp>
      <p:sp>
        <p:nvSpPr>
          <p:cNvPr id="13" name="Text 0">
            <a:extLst>
              <a:ext uri="{FF2B5EF4-FFF2-40B4-BE49-F238E27FC236}">
                <a16:creationId xmlns:a16="http://schemas.microsoft.com/office/drawing/2014/main" id="{7866E12F-BD73-64BE-4E44-E32985E83912}"/>
              </a:ext>
            </a:extLst>
          </p:cNvPr>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ANALYSIS &amp; VISUALIZATION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Stationarity Test: Rolling Statistics &amp; ADF Test</a:t>
            </a:r>
            <a:endParaRPr lang="en-US" sz="3200" dirty="0"/>
          </a:p>
        </p:txBody>
      </p:sp>
      <p:pic>
        <p:nvPicPr>
          <p:cNvPr id="4" name="Image 0" descr="/home/claude/deck/images/1789140197061_image.png"/>
          <p:cNvPicPr>
            <a:picLocks noChangeAspect="1"/>
          </p:cNvPicPr>
          <p:nvPr/>
        </p:nvPicPr>
        <p:blipFill>
          <a:blip r:embed="rId3"/>
          <a:stretch>
            <a:fillRect/>
          </a:stretch>
        </p:blipFill>
        <p:spPr>
          <a:xfrm>
            <a:off x="502920" y="1691640"/>
            <a:ext cx="6492240" cy="3977640"/>
          </a:xfrm>
          <a:prstGeom prst="rect">
            <a:avLst/>
          </a:prstGeom>
        </p:spPr>
      </p:pic>
      <p:sp>
        <p:nvSpPr>
          <p:cNvPr id="5" name="Text 2"/>
          <p:cNvSpPr txBox="1"/>
          <p:nvPr/>
        </p:nvSpPr>
        <p:spPr>
          <a:xfrm>
            <a:off x="502920" y="5715000"/>
            <a:ext cx="6492240" cy="731520"/>
          </a:xfrm>
          <a:prstGeom prst="rect">
            <a:avLst/>
          </a:prstGeom>
          <a:noFill/>
          <a:ln/>
        </p:spPr>
        <p:txBody>
          <a:bodyPr wrap="square" lIns="0" tIns="0" rIns="0" bIns="0" rtlCol="0" anchor="ctr"/>
          <a:lstStyle/>
          <a:p>
            <a:pPr marL="0" indent="0">
              <a:buNone/>
            </a:pPr>
            <a:r>
              <a:rPr lang="en-US" sz="1200" i="1" dirty="0">
                <a:solidFill>
                  <a:srgbClr val="5B7180"/>
                </a:solidFill>
                <a:latin typeface="Calibri" pitchFamily="34" charset="0"/>
                <a:ea typeface="Calibri" pitchFamily="34" charset="-122"/>
                <a:cs typeface="Calibri" pitchFamily="34" charset="-120"/>
              </a:rPr>
              <a:t>Rolling mean keeps increasing and rolling std also grows over time, visual indication that the data is not yet stationary.</a:t>
            </a:r>
            <a:endParaRPr lang="en-US" sz="1200" dirty="0"/>
          </a:p>
        </p:txBody>
      </p:sp>
      <p:sp>
        <p:nvSpPr>
          <p:cNvPr id="6" name="Shape 3"/>
          <p:cNvSpPr/>
          <p:nvPr/>
        </p:nvSpPr>
        <p:spPr>
          <a:xfrm>
            <a:off x="7269480" y="1645920"/>
            <a:ext cx="4574588" cy="4703122"/>
          </a:xfrm>
          <a:prstGeom prst="roundRect">
            <a:avLst>
              <a:gd name="adj" fmla="val 1250"/>
            </a:avLst>
          </a:prstGeom>
          <a:solidFill>
            <a:srgbClr val="21295C"/>
          </a:solidFill>
          <a:ln/>
        </p:spPr>
      </p:sp>
      <p:sp>
        <p:nvSpPr>
          <p:cNvPr id="8" name="Text 4"/>
          <p:cNvSpPr txBox="1"/>
          <p:nvPr/>
        </p:nvSpPr>
        <p:spPr>
          <a:xfrm>
            <a:off x="7406640" y="5588537"/>
            <a:ext cx="4114800" cy="822960"/>
          </a:xfrm>
          <a:prstGeom prst="rect">
            <a:avLst/>
          </a:prstGeom>
          <a:noFill/>
          <a:ln/>
        </p:spPr>
        <p:txBody>
          <a:bodyPr wrap="square" lIns="0" tIns="0" rIns="0" bIns="0" rtlCol="0" anchor="ctr"/>
          <a:lstStyle/>
          <a:p>
            <a:pPr marL="0" indent="0">
              <a:buNone/>
            </a:pPr>
            <a:r>
              <a:rPr lang="en-US" sz="1150" i="1" dirty="0">
                <a:solidFill>
                  <a:srgbClr val="CADCE8"/>
                </a:solidFill>
                <a:latin typeface="Calibri" pitchFamily="34" charset="0"/>
                <a:ea typeface="Calibri" pitchFamily="34" charset="-122"/>
                <a:cs typeface="Calibri" pitchFamily="34" charset="-120"/>
              </a:rPr>
              <a:t>Conclusion: Only seasonal differencing (lag 12) successfully makes the data stationary (p-value 0.0116 &lt; 0.05).</a:t>
            </a:r>
            <a:endParaRPr lang="en-US" sz="1150" dirty="0"/>
          </a:p>
        </p:txBody>
      </p:sp>
      <p:sp>
        <p:nvSpPr>
          <p:cNvPr id="10" name="Text 6"/>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8</a:t>
            </a:r>
            <a:endParaRPr lang="en-US" sz="1000" dirty="0"/>
          </a:p>
        </p:txBody>
      </p:sp>
      <mc:AlternateContent xmlns:mc="http://schemas.openxmlformats.org/markup-compatibility/2006">
        <mc:Choice xmlns:a14="http://schemas.microsoft.com/office/drawing/2010/main" Requires="a14">
          <p:graphicFrame>
            <p:nvGraphicFramePr>
              <p:cNvPr id="13" name="Table 12">
                <a:extLst>
                  <a:ext uri="{FF2B5EF4-FFF2-40B4-BE49-F238E27FC236}">
                    <a16:creationId xmlns:a16="http://schemas.microsoft.com/office/drawing/2014/main" id="{7EE16D07-BC54-7BB2-7420-B4FC1D4BB1E2}"/>
                  </a:ext>
                </a:extLst>
              </p:cNvPr>
              <p:cNvGraphicFramePr>
                <a:graphicFrameLocks noGrp="1"/>
              </p:cNvGraphicFramePr>
              <p:nvPr>
                <p:extLst>
                  <p:ext uri="{D42A27DB-BD31-4B8C-83A1-F6EECF244321}">
                    <p14:modId xmlns:p14="http://schemas.microsoft.com/office/powerpoint/2010/main" val="2407722305"/>
                  </p:ext>
                </p:extLst>
              </p:nvPr>
            </p:nvGraphicFramePr>
            <p:xfrm>
              <a:off x="7373668" y="1912141"/>
              <a:ext cx="4366212" cy="3662680"/>
            </p:xfrm>
            <a:graphic>
              <a:graphicData uri="http://schemas.openxmlformats.org/drawingml/2006/table">
                <a:tbl>
                  <a:tblPr firstRow="1" bandRow="1">
                    <a:tableStyleId>{5C22544A-7EE6-4342-B048-85BDC9FD1C3A}</a:tableStyleId>
                  </a:tblPr>
                  <a:tblGrid>
                    <a:gridCol w="1091553">
                      <a:extLst>
                        <a:ext uri="{9D8B030D-6E8A-4147-A177-3AD203B41FA5}">
                          <a16:colId xmlns:a16="http://schemas.microsoft.com/office/drawing/2014/main" val="2571914960"/>
                        </a:ext>
                      </a:extLst>
                    </a:gridCol>
                    <a:gridCol w="1091553">
                      <a:extLst>
                        <a:ext uri="{9D8B030D-6E8A-4147-A177-3AD203B41FA5}">
                          <a16:colId xmlns:a16="http://schemas.microsoft.com/office/drawing/2014/main" val="601899920"/>
                        </a:ext>
                      </a:extLst>
                    </a:gridCol>
                    <a:gridCol w="1091553">
                      <a:extLst>
                        <a:ext uri="{9D8B030D-6E8A-4147-A177-3AD203B41FA5}">
                          <a16:colId xmlns:a16="http://schemas.microsoft.com/office/drawing/2014/main" val="302117354"/>
                        </a:ext>
                      </a:extLst>
                    </a:gridCol>
                    <a:gridCol w="1091553">
                      <a:extLst>
                        <a:ext uri="{9D8B030D-6E8A-4147-A177-3AD203B41FA5}">
                          <a16:colId xmlns:a16="http://schemas.microsoft.com/office/drawing/2014/main" val="2291141669"/>
                        </a:ext>
                      </a:extLst>
                    </a:gridCol>
                  </a:tblGrid>
                  <a:tr h="370840">
                    <a:tc>
                      <a:txBody>
                        <a:bodyPr/>
                        <a:lstStyle/>
                        <a:p>
                          <a:r>
                            <a:rPr lang="en-US" sz="1200" b="0" dirty="0"/>
                            <a:t>Testing Stage</a:t>
                          </a:r>
                          <a:endParaRPr lang="en-ID" sz="1200" b="0" dirty="0"/>
                        </a:p>
                      </a:txBody>
                      <a:tcPr/>
                    </a:tc>
                    <a:tc>
                      <a:txBody>
                        <a:bodyPr/>
                        <a:lstStyle/>
                        <a:p>
                          <a:r>
                            <a:rPr lang="en-US" sz="1200" b="0" dirty="0"/>
                            <a:t>ADF Statistic</a:t>
                          </a:r>
                          <a:endParaRPr lang="en-ID" sz="1200" b="0" dirty="0"/>
                        </a:p>
                      </a:txBody>
                      <a:tcPr/>
                    </a:tc>
                    <a:tc>
                      <a:txBody>
                        <a:bodyPr/>
                        <a:lstStyle/>
                        <a:p>
                          <a:r>
                            <a:rPr lang="en-US" sz="1200" b="0" dirty="0"/>
                            <a:t>p-value</a:t>
                          </a:r>
                          <a:endParaRPr lang="en-ID" sz="1200" b="0" dirty="0"/>
                        </a:p>
                      </a:txBody>
                      <a:tcPr/>
                    </a:tc>
                    <a:tc>
                      <a:txBody>
                        <a:bodyPr/>
                        <a:lstStyle/>
                        <a:p>
                          <a:r>
                            <a:rPr lang="en-US" sz="1200" b="0" dirty="0"/>
                            <a:t>Conclusion</a:t>
                          </a:r>
                          <a:endParaRPr lang="en-ID" sz="1200" b="0" dirty="0"/>
                        </a:p>
                      </a:txBody>
                      <a:tcPr/>
                    </a:tc>
                    <a:extLst>
                      <a:ext uri="{0D108BD9-81ED-4DB2-BD59-A6C34878D82A}">
                        <a16:rowId xmlns:a16="http://schemas.microsoft.com/office/drawing/2014/main" val="2486257826"/>
                      </a:ext>
                    </a:extLst>
                  </a:tr>
                  <a:tr h="370840">
                    <a:tc>
                      <a:txBody>
                        <a:bodyPr/>
                        <a:lstStyle/>
                        <a:p>
                          <a:r>
                            <a:rPr lang="en-US" sz="1200" dirty="0"/>
                            <a:t>Original Data</a:t>
                          </a:r>
                          <a:endParaRPr lang="en-ID" sz="1200" dirty="0"/>
                        </a:p>
                      </a:txBody>
                      <a:tcPr/>
                    </a:tc>
                    <a:tc>
                      <a:txBody>
                        <a:bodyPr/>
                        <a:lstStyle/>
                        <a:p>
                          <a:pPr algn="ctr"/>
                          <a:r>
                            <a:rPr lang="en-US" sz="1200" dirty="0"/>
                            <a:t>  0.8154</a:t>
                          </a:r>
                        </a:p>
                      </a:txBody>
                      <a:tcPr/>
                    </a:tc>
                    <a:tc>
                      <a:txBody>
                        <a:bodyPr/>
                        <a:lstStyle/>
                        <a:p>
                          <a:pPr algn="ctr"/>
                          <a:r>
                            <a:rPr lang="en-US" sz="1200" dirty="0"/>
                            <a:t>0.9919</a:t>
                          </a:r>
                          <a:endParaRPr lang="en-ID" sz="1200" dirty="0"/>
                        </a:p>
                      </a:txBody>
                      <a:tcPr/>
                    </a:tc>
                    <a:tc>
                      <a:txBody>
                        <a:bodyPr/>
                        <a:lstStyle/>
                        <a:p>
                          <a:r>
                            <a:rPr lang="en-ID" sz="1200" b="0" i="0" kern="1200" dirty="0">
                              <a:solidFill>
                                <a:schemeClr val="dk1"/>
                              </a:solidFill>
                              <a:effectLst/>
                              <a:latin typeface="+mn-lt"/>
                              <a:ea typeface="+mn-ea"/>
                              <a:cs typeface="+mn-cs"/>
                            </a:rPr>
                            <a:t>Fail to Reject H0 -&gt; Data is NON-stationary</a:t>
                          </a:r>
                          <a:endParaRPr lang="en-ID" sz="1200" dirty="0"/>
                        </a:p>
                      </a:txBody>
                      <a:tcPr/>
                    </a:tc>
                    <a:extLst>
                      <a:ext uri="{0D108BD9-81ED-4DB2-BD59-A6C34878D82A}">
                        <a16:rowId xmlns:a16="http://schemas.microsoft.com/office/drawing/2014/main" val="3115569409"/>
                      </a:ext>
                    </a:extLst>
                  </a:tr>
                  <a:tr h="370840">
                    <a:tc>
                      <a:txBody>
                        <a:bodyPr/>
                        <a:lstStyle/>
                        <a:p>
                          <a:r>
                            <a:rPr lang="en-US" sz="1200" dirty="0"/>
                            <a:t>After 1</a:t>
                          </a:r>
                          <a:r>
                            <a:rPr lang="en-US" sz="1200" baseline="30000" dirty="0"/>
                            <a:t>st</a:t>
                          </a:r>
                          <a:r>
                            <a:rPr lang="en-US" sz="1200" dirty="0"/>
                            <a:t> Differencing</a:t>
                          </a:r>
                          <a:endParaRPr lang="en-ID" sz="1200" dirty="0"/>
                        </a:p>
                      </a:txBody>
                      <a:tcPr/>
                    </a:tc>
                    <a:tc>
                      <a:txBody>
                        <a:bodyPr/>
                        <a:lstStyle/>
                        <a:p>
                          <a:pPr algn="ctr"/>
                          <a:r>
                            <a:rPr lang="en-US" sz="1200" dirty="0"/>
                            <a:t>-2.8293</a:t>
                          </a:r>
                          <a:endParaRPr lang="en-ID" sz="1200" dirty="0"/>
                        </a:p>
                      </a:txBody>
                      <a:tcPr/>
                    </a:tc>
                    <a:tc>
                      <a:txBody>
                        <a:bodyPr/>
                        <a:lstStyle/>
                        <a:p>
                          <a:pPr algn="ctr"/>
                          <a:r>
                            <a:rPr lang="en-US" sz="1200" dirty="0"/>
                            <a:t>0.0542</a:t>
                          </a:r>
                          <a:endParaRPr lang="en-ID"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b="0" i="0" kern="1200" dirty="0">
                              <a:solidFill>
                                <a:schemeClr val="dk1"/>
                              </a:solidFill>
                              <a:effectLst/>
                              <a:latin typeface="+mn-lt"/>
                              <a:ea typeface="+mn-ea"/>
                              <a:cs typeface="+mn-cs"/>
                            </a:rPr>
                            <a:t>Fail to Reject H0 -&gt; Data is NON-stationary</a:t>
                          </a:r>
                          <a:endParaRPr lang="en-ID" sz="1200" dirty="0"/>
                        </a:p>
                        <a:p>
                          <a:endParaRPr lang="en-ID" sz="1200" dirty="0"/>
                        </a:p>
                      </a:txBody>
                      <a:tcPr/>
                    </a:tc>
                    <a:extLst>
                      <a:ext uri="{0D108BD9-81ED-4DB2-BD59-A6C34878D82A}">
                        <a16:rowId xmlns:a16="http://schemas.microsoft.com/office/drawing/2014/main" val="1950544519"/>
                      </a:ext>
                    </a:extLst>
                  </a:tr>
                  <a:tr h="370840">
                    <a:tc>
                      <a:txBody>
                        <a:bodyPr/>
                        <a:lstStyle/>
                        <a:p>
                          <a:r>
                            <a:rPr lang="en-US" sz="1200" dirty="0"/>
                            <a:t>Log + 1</a:t>
                          </a:r>
                          <a:r>
                            <a:rPr lang="en-US" sz="1200" baseline="30000" dirty="0"/>
                            <a:t>st</a:t>
                          </a:r>
                          <a:r>
                            <a:rPr lang="en-US" sz="1200" dirty="0"/>
                            <a:t> Differencing</a:t>
                          </a:r>
                          <a:endParaRPr lang="en-ID" sz="1200" dirty="0"/>
                        </a:p>
                      </a:txBody>
                      <a:tcPr/>
                    </a:tc>
                    <a:tc>
                      <a:txBody>
                        <a:bodyPr/>
                        <a:lstStyle/>
                        <a:p>
                          <a:pPr algn="ctr"/>
                          <a:r>
                            <a:rPr lang="en-US" sz="1200" dirty="0"/>
                            <a:t>-2.7171</a:t>
                          </a:r>
                          <a:endParaRPr lang="en-ID" sz="1200" dirty="0"/>
                        </a:p>
                      </a:txBody>
                      <a:tcPr/>
                    </a:tc>
                    <a:tc>
                      <a:txBody>
                        <a:bodyPr/>
                        <a:lstStyle/>
                        <a:p>
                          <a:pPr algn="ctr"/>
                          <a:r>
                            <a:rPr lang="en-US" sz="1200" dirty="0"/>
                            <a:t>0.0711</a:t>
                          </a:r>
                          <a:endParaRPr lang="en-ID"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b="0" i="0" kern="1200" dirty="0">
                              <a:solidFill>
                                <a:schemeClr val="dk1"/>
                              </a:solidFill>
                              <a:effectLst/>
                              <a:latin typeface="+mn-lt"/>
                              <a:ea typeface="+mn-ea"/>
                              <a:cs typeface="+mn-cs"/>
                            </a:rPr>
                            <a:t>Fail to Reject H0 -&gt; Data is NON-stationary</a:t>
                          </a:r>
                          <a:endParaRPr lang="en-ID" sz="1200" dirty="0"/>
                        </a:p>
                      </a:txBody>
                      <a:tcPr/>
                    </a:tc>
                    <a:extLst>
                      <a:ext uri="{0D108BD9-81ED-4DB2-BD59-A6C34878D82A}">
                        <a16:rowId xmlns:a16="http://schemas.microsoft.com/office/drawing/2014/main" val="1377999244"/>
                      </a:ext>
                    </a:extLst>
                  </a:tr>
                  <a:tr h="370840">
                    <a:tc>
                      <a:txBody>
                        <a:bodyPr/>
                        <a:lstStyle/>
                        <a:p>
                          <a:r>
                            <a:rPr lang="en-US" sz="1200" dirty="0"/>
                            <a:t>Seasonal Differencing (Lag12)</a:t>
                          </a:r>
                          <a:endParaRPr lang="en-ID" sz="1200" dirty="0"/>
                        </a:p>
                      </a:txBody>
                      <a:tcPr/>
                    </a:tc>
                    <a:tc>
                      <a:txBody>
                        <a:bodyPr/>
                        <a:lstStyle/>
                        <a:p>
                          <a:pPr algn="ctr"/>
                          <a:r>
                            <a:rPr lang="en-US" sz="1200" dirty="0"/>
                            <a:t>-3.3830</a:t>
                          </a:r>
                          <a:endParaRPr lang="en-ID" sz="1200" dirty="0"/>
                        </a:p>
                      </a:txBody>
                      <a:tcPr/>
                    </a:tc>
                    <a:tc>
                      <a:txBody>
                        <a:bodyPr/>
                        <a:lstStyle/>
                        <a:p>
                          <a:pPr algn="ctr"/>
                          <a:r>
                            <a:rPr lang="en-US" sz="1200" dirty="0"/>
                            <a:t>0.0116</a:t>
                          </a:r>
                          <a:endParaRPr lang="en-ID" sz="1200" dirty="0"/>
                        </a:p>
                      </a:txBody>
                      <a:tcPr/>
                    </a:tc>
                    <a:tc>
                      <a:txBody>
                        <a:bodyPr/>
                        <a:lstStyle/>
                        <a:p>
                          <a:r>
                            <a:rPr lang="en-ID" sz="1200" dirty="0"/>
                            <a:t>Stationary (Reject </a:t>
                          </a:r>
                          <a14:m>
                            <m:oMath xmlns:m="http://schemas.openxmlformats.org/officeDocument/2006/math">
                              <m:sSub>
                                <m:sSubPr>
                                  <m:ctrlPr>
                                    <a:rPr lang="en-ID" sz="1200" i="1" kern="1200">
                                      <a:solidFill>
                                        <a:schemeClr val="dk1"/>
                                      </a:solidFill>
                                      <a:latin typeface="+mn-lt"/>
                                      <a:ea typeface="+mn-ea"/>
                                      <a:cs typeface="+mn-cs"/>
                                    </a:rPr>
                                  </m:ctrlPr>
                                </m:sSubPr>
                                <m:e>
                                  <m:r>
                                    <a:rPr lang="en-ID" sz="1200" i="1" kern="1200">
                                      <a:solidFill>
                                        <a:schemeClr val="dk1"/>
                                      </a:solidFill>
                                      <a:latin typeface="+mn-lt"/>
                                      <a:ea typeface="+mn-ea"/>
                                      <a:cs typeface="+mn-cs"/>
                                    </a:rPr>
                                    <m:t>𝐻</m:t>
                                  </m:r>
                                </m:e>
                                <m:sub>
                                  <m:r>
                                    <a:rPr lang="en-ID" sz="1200" i="0" kern="1200">
                                      <a:solidFill>
                                        <a:schemeClr val="dk1"/>
                                      </a:solidFill>
                                      <a:latin typeface="+mn-lt"/>
                                      <a:ea typeface="+mn-ea"/>
                                      <a:cs typeface="+mn-cs"/>
                                    </a:rPr>
                                    <m:t>0</m:t>
                                  </m:r>
                                </m:sub>
                              </m:sSub>
                            </m:oMath>
                          </a14:m>
                          <a:r>
                            <a:rPr lang="en-ID" sz="1200" dirty="0"/>
                            <a:t>)</a:t>
                          </a:r>
                        </a:p>
                      </a:txBody>
                      <a:tcPr/>
                    </a:tc>
                    <a:extLst>
                      <a:ext uri="{0D108BD9-81ED-4DB2-BD59-A6C34878D82A}">
                        <a16:rowId xmlns:a16="http://schemas.microsoft.com/office/drawing/2014/main" val="2214311053"/>
                      </a:ext>
                    </a:extLst>
                  </a:tr>
                </a:tbl>
              </a:graphicData>
            </a:graphic>
          </p:graphicFrame>
        </mc:Choice>
        <mc:Fallback>
          <p:graphicFrame>
            <p:nvGraphicFramePr>
              <p:cNvPr id="13" name="Table 12">
                <a:extLst>
                  <a:ext uri="{FF2B5EF4-FFF2-40B4-BE49-F238E27FC236}">
                    <a16:creationId xmlns:a16="http://schemas.microsoft.com/office/drawing/2014/main" id="{7EE16D07-BC54-7BB2-7420-B4FC1D4BB1E2}"/>
                  </a:ext>
                </a:extLst>
              </p:cNvPr>
              <p:cNvGraphicFramePr>
                <a:graphicFrameLocks noGrp="1"/>
              </p:cNvGraphicFramePr>
              <p:nvPr>
                <p:extLst>
                  <p:ext uri="{D42A27DB-BD31-4B8C-83A1-F6EECF244321}">
                    <p14:modId xmlns:p14="http://schemas.microsoft.com/office/powerpoint/2010/main" val="2407722305"/>
                  </p:ext>
                </p:extLst>
              </p:nvPr>
            </p:nvGraphicFramePr>
            <p:xfrm>
              <a:off x="7373668" y="1912141"/>
              <a:ext cx="4366212" cy="3662680"/>
            </p:xfrm>
            <a:graphic>
              <a:graphicData uri="http://schemas.openxmlformats.org/drawingml/2006/table">
                <a:tbl>
                  <a:tblPr firstRow="1" bandRow="1">
                    <a:tableStyleId>{5C22544A-7EE6-4342-B048-85BDC9FD1C3A}</a:tableStyleId>
                  </a:tblPr>
                  <a:tblGrid>
                    <a:gridCol w="1091553">
                      <a:extLst>
                        <a:ext uri="{9D8B030D-6E8A-4147-A177-3AD203B41FA5}">
                          <a16:colId xmlns:a16="http://schemas.microsoft.com/office/drawing/2014/main" val="2571914960"/>
                        </a:ext>
                      </a:extLst>
                    </a:gridCol>
                    <a:gridCol w="1091553">
                      <a:extLst>
                        <a:ext uri="{9D8B030D-6E8A-4147-A177-3AD203B41FA5}">
                          <a16:colId xmlns:a16="http://schemas.microsoft.com/office/drawing/2014/main" val="601899920"/>
                        </a:ext>
                      </a:extLst>
                    </a:gridCol>
                    <a:gridCol w="1091553">
                      <a:extLst>
                        <a:ext uri="{9D8B030D-6E8A-4147-A177-3AD203B41FA5}">
                          <a16:colId xmlns:a16="http://schemas.microsoft.com/office/drawing/2014/main" val="302117354"/>
                        </a:ext>
                      </a:extLst>
                    </a:gridCol>
                    <a:gridCol w="1091553">
                      <a:extLst>
                        <a:ext uri="{9D8B030D-6E8A-4147-A177-3AD203B41FA5}">
                          <a16:colId xmlns:a16="http://schemas.microsoft.com/office/drawing/2014/main" val="2291141669"/>
                        </a:ext>
                      </a:extLst>
                    </a:gridCol>
                  </a:tblGrid>
                  <a:tr h="370840">
                    <a:tc>
                      <a:txBody>
                        <a:bodyPr/>
                        <a:lstStyle/>
                        <a:p>
                          <a:r>
                            <a:rPr lang="en-US" sz="1200" b="0" dirty="0"/>
                            <a:t>Testing Stage</a:t>
                          </a:r>
                          <a:endParaRPr lang="en-ID" sz="1200" b="0" dirty="0"/>
                        </a:p>
                      </a:txBody>
                      <a:tcPr/>
                    </a:tc>
                    <a:tc>
                      <a:txBody>
                        <a:bodyPr/>
                        <a:lstStyle/>
                        <a:p>
                          <a:r>
                            <a:rPr lang="en-US" sz="1200" b="0" dirty="0"/>
                            <a:t>ADF Statistic</a:t>
                          </a:r>
                          <a:endParaRPr lang="en-ID" sz="1200" b="0" dirty="0"/>
                        </a:p>
                      </a:txBody>
                      <a:tcPr/>
                    </a:tc>
                    <a:tc>
                      <a:txBody>
                        <a:bodyPr/>
                        <a:lstStyle/>
                        <a:p>
                          <a:r>
                            <a:rPr lang="en-US" sz="1200" b="0" dirty="0"/>
                            <a:t>p-value</a:t>
                          </a:r>
                          <a:endParaRPr lang="en-ID" sz="1200" b="0" dirty="0"/>
                        </a:p>
                      </a:txBody>
                      <a:tcPr/>
                    </a:tc>
                    <a:tc>
                      <a:txBody>
                        <a:bodyPr/>
                        <a:lstStyle/>
                        <a:p>
                          <a:r>
                            <a:rPr lang="en-US" sz="1200" b="0" dirty="0"/>
                            <a:t>Conclusion</a:t>
                          </a:r>
                          <a:endParaRPr lang="en-ID" sz="1200" b="0" dirty="0"/>
                        </a:p>
                      </a:txBody>
                      <a:tcPr/>
                    </a:tc>
                    <a:extLst>
                      <a:ext uri="{0D108BD9-81ED-4DB2-BD59-A6C34878D82A}">
                        <a16:rowId xmlns:a16="http://schemas.microsoft.com/office/drawing/2014/main" val="2486257826"/>
                      </a:ext>
                    </a:extLst>
                  </a:tr>
                  <a:tr h="822960">
                    <a:tc>
                      <a:txBody>
                        <a:bodyPr/>
                        <a:lstStyle/>
                        <a:p>
                          <a:r>
                            <a:rPr lang="en-US" sz="1200" dirty="0"/>
                            <a:t>Original Data</a:t>
                          </a:r>
                          <a:endParaRPr lang="en-ID" sz="1200" dirty="0"/>
                        </a:p>
                      </a:txBody>
                      <a:tcPr/>
                    </a:tc>
                    <a:tc>
                      <a:txBody>
                        <a:bodyPr/>
                        <a:lstStyle/>
                        <a:p>
                          <a:pPr algn="ctr"/>
                          <a:r>
                            <a:rPr lang="en-US" sz="1200" dirty="0"/>
                            <a:t>  0.8154</a:t>
                          </a:r>
                        </a:p>
                      </a:txBody>
                      <a:tcPr/>
                    </a:tc>
                    <a:tc>
                      <a:txBody>
                        <a:bodyPr/>
                        <a:lstStyle/>
                        <a:p>
                          <a:pPr algn="ctr"/>
                          <a:r>
                            <a:rPr lang="en-US" sz="1200" dirty="0"/>
                            <a:t>0.9919</a:t>
                          </a:r>
                          <a:endParaRPr lang="en-ID" sz="1200" dirty="0"/>
                        </a:p>
                      </a:txBody>
                      <a:tcPr/>
                    </a:tc>
                    <a:tc>
                      <a:txBody>
                        <a:bodyPr/>
                        <a:lstStyle/>
                        <a:p>
                          <a:r>
                            <a:rPr lang="en-ID" sz="1200" b="0" i="0" kern="1200" dirty="0">
                              <a:solidFill>
                                <a:schemeClr val="dk1"/>
                              </a:solidFill>
                              <a:effectLst/>
                              <a:latin typeface="+mn-lt"/>
                              <a:ea typeface="+mn-ea"/>
                              <a:cs typeface="+mn-cs"/>
                            </a:rPr>
                            <a:t>Fail to Reject H0 -&gt; Data is NON-stationary</a:t>
                          </a:r>
                          <a:endParaRPr lang="en-ID" sz="1200" dirty="0"/>
                        </a:p>
                      </a:txBody>
                      <a:tcPr/>
                    </a:tc>
                    <a:extLst>
                      <a:ext uri="{0D108BD9-81ED-4DB2-BD59-A6C34878D82A}">
                        <a16:rowId xmlns:a16="http://schemas.microsoft.com/office/drawing/2014/main" val="3115569409"/>
                      </a:ext>
                    </a:extLst>
                  </a:tr>
                  <a:tr h="1005840">
                    <a:tc>
                      <a:txBody>
                        <a:bodyPr/>
                        <a:lstStyle/>
                        <a:p>
                          <a:r>
                            <a:rPr lang="en-US" sz="1200" dirty="0"/>
                            <a:t>After 1</a:t>
                          </a:r>
                          <a:r>
                            <a:rPr lang="en-US" sz="1200" baseline="30000" dirty="0"/>
                            <a:t>st</a:t>
                          </a:r>
                          <a:r>
                            <a:rPr lang="en-US" sz="1200" dirty="0"/>
                            <a:t> Differencing</a:t>
                          </a:r>
                          <a:endParaRPr lang="en-ID" sz="1200" dirty="0"/>
                        </a:p>
                      </a:txBody>
                      <a:tcPr/>
                    </a:tc>
                    <a:tc>
                      <a:txBody>
                        <a:bodyPr/>
                        <a:lstStyle/>
                        <a:p>
                          <a:pPr algn="ctr"/>
                          <a:r>
                            <a:rPr lang="en-US" sz="1200" dirty="0"/>
                            <a:t>-2.8293</a:t>
                          </a:r>
                          <a:endParaRPr lang="en-ID" sz="1200" dirty="0"/>
                        </a:p>
                      </a:txBody>
                      <a:tcPr/>
                    </a:tc>
                    <a:tc>
                      <a:txBody>
                        <a:bodyPr/>
                        <a:lstStyle/>
                        <a:p>
                          <a:pPr algn="ctr"/>
                          <a:r>
                            <a:rPr lang="en-US" sz="1200" dirty="0"/>
                            <a:t>0.0542</a:t>
                          </a:r>
                          <a:endParaRPr lang="en-ID"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b="0" i="0" kern="1200" dirty="0">
                              <a:solidFill>
                                <a:schemeClr val="dk1"/>
                              </a:solidFill>
                              <a:effectLst/>
                              <a:latin typeface="+mn-lt"/>
                              <a:ea typeface="+mn-ea"/>
                              <a:cs typeface="+mn-cs"/>
                            </a:rPr>
                            <a:t>Fail to Reject H0 -&gt; Data is NON-stationary</a:t>
                          </a:r>
                          <a:endParaRPr lang="en-ID" sz="1200" dirty="0"/>
                        </a:p>
                        <a:p>
                          <a:endParaRPr lang="en-ID" sz="1200" dirty="0"/>
                        </a:p>
                      </a:txBody>
                      <a:tcPr/>
                    </a:tc>
                    <a:extLst>
                      <a:ext uri="{0D108BD9-81ED-4DB2-BD59-A6C34878D82A}">
                        <a16:rowId xmlns:a16="http://schemas.microsoft.com/office/drawing/2014/main" val="1950544519"/>
                      </a:ext>
                    </a:extLst>
                  </a:tr>
                  <a:tr h="822960">
                    <a:tc>
                      <a:txBody>
                        <a:bodyPr/>
                        <a:lstStyle/>
                        <a:p>
                          <a:r>
                            <a:rPr lang="en-US" sz="1200" dirty="0"/>
                            <a:t>Log + 1</a:t>
                          </a:r>
                          <a:r>
                            <a:rPr lang="en-US" sz="1200" baseline="30000" dirty="0"/>
                            <a:t>st</a:t>
                          </a:r>
                          <a:r>
                            <a:rPr lang="en-US" sz="1200" dirty="0"/>
                            <a:t> Differencing</a:t>
                          </a:r>
                          <a:endParaRPr lang="en-ID" sz="1200" dirty="0"/>
                        </a:p>
                      </a:txBody>
                      <a:tcPr/>
                    </a:tc>
                    <a:tc>
                      <a:txBody>
                        <a:bodyPr/>
                        <a:lstStyle/>
                        <a:p>
                          <a:pPr algn="ctr"/>
                          <a:r>
                            <a:rPr lang="en-US" sz="1200" dirty="0"/>
                            <a:t>-2.7171</a:t>
                          </a:r>
                          <a:endParaRPr lang="en-ID" sz="1200" dirty="0"/>
                        </a:p>
                      </a:txBody>
                      <a:tcPr/>
                    </a:tc>
                    <a:tc>
                      <a:txBody>
                        <a:bodyPr/>
                        <a:lstStyle/>
                        <a:p>
                          <a:pPr algn="ctr"/>
                          <a:r>
                            <a:rPr lang="en-US" sz="1200" dirty="0"/>
                            <a:t>0.0711</a:t>
                          </a:r>
                          <a:endParaRPr lang="en-ID"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D" sz="1200" b="0" i="0" kern="1200" dirty="0">
                              <a:solidFill>
                                <a:schemeClr val="dk1"/>
                              </a:solidFill>
                              <a:effectLst/>
                              <a:latin typeface="+mn-lt"/>
                              <a:ea typeface="+mn-ea"/>
                              <a:cs typeface="+mn-cs"/>
                            </a:rPr>
                            <a:t>Fail to Reject H0 -&gt; Data is NON-stationary</a:t>
                          </a:r>
                          <a:endParaRPr lang="en-ID" sz="1200" dirty="0"/>
                        </a:p>
                      </a:txBody>
                      <a:tcPr/>
                    </a:tc>
                    <a:extLst>
                      <a:ext uri="{0D108BD9-81ED-4DB2-BD59-A6C34878D82A}">
                        <a16:rowId xmlns:a16="http://schemas.microsoft.com/office/drawing/2014/main" val="1377999244"/>
                      </a:ext>
                    </a:extLst>
                  </a:tr>
                  <a:tr h="640080">
                    <a:tc>
                      <a:txBody>
                        <a:bodyPr/>
                        <a:lstStyle/>
                        <a:p>
                          <a:r>
                            <a:rPr lang="en-US" sz="1200" dirty="0"/>
                            <a:t>Seasonal Differencing (Lag12)</a:t>
                          </a:r>
                          <a:endParaRPr lang="en-ID" sz="1200" dirty="0"/>
                        </a:p>
                      </a:txBody>
                      <a:tcPr/>
                    </a:tc>
                    <a:tc>
                      <a:txBody>
                        <a:bodyPr/>
                        <a:lstStyle/>
                        <a:p>
                          <a:pPr algn="ctr"/>
                          <a:r>
                            <a:rPr lang="en-US" sz="1200" dirty="0"/>
                            <a:t>-3.3830</a:t>
                          </a:r>
                          <a:endParaRPr lang="en-ID" sz="1200" dirty="0"/>
                        </a:p>
                      </a:txBody>
                      <a:tcPr/>
                    </a:tc>
                    <a:tc>
                      <a:txBody>
                        <a:bodyPr/>
                        <a:lstStyle/>
                        <a:p>
                          <a:pPr algn="ctr"/>
                          <a:r>
                            <a:rPr lang="en-US" sz="1200" dirty="0"/>
                            <a:t>0.0116</a:t>
                          </a:r>
                          <a:endParaRPr lang="en-ID" sz="1200" dirty="0"/>
                        </a:p>
                      </a:txBody>
                      <a:tcPr/>
                    </a:tc>
                    <a:tc>
                      <a:txBody>
                        <a:bodyPr/>
                        <a:lstStyle/>
                        <a:p>
                          <a:endParaRPr lang="en-US"/>
                        </a:p>
                      </a:txBody>
                      <a:tcPr>
                        <a:blipFill>
                          <a:blip r:embed="rId4"/>
                          <a:stretch>
                            <a:fillRect l="-301117" t="-474286" r="-2235" b="-7619"/>
                          </a:stretch>
                        </a:blipFill>
                      </a:tcPr>
                    </a:tc>
                    <a:extLst>
                      <a:ext uri="{0D108BD9-81ED-4DB2-BD59-A6C34878D82A}">
                        <a16:rowId xmlns:a16="http://schemas.microsoft.com/office/drawing/2014/main" val="2214311053"/>
                      </a:ext>
                    </a:extLst>
                  </a:tr>
                </a:tbl>
              </a:graphicData>
            </a:graphic>
          </p:graphicFrame>
        </mc:Fallback>
      </mc:AlternateContent>
      <p:sp>
        <p:nvSpPr>
          <p:cNvPr id="15" name="Text 0">
            <a:extLst>
              <a:ext uri="{FF2B5EF4-FFF2-40B4-BE49-F238E27FC236}">
                <a16:creationId xmlns:a16="http://schemas.microsoft.com/office/drawing/2014/main" id="{5F820B42-72E7-EF63-F833-761944B66402}"/>
              </a:ext>
            </a:extLst>
          </p:cNvPr>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ANALYSIS &amp; VISUALIZATION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8" name="Shape 5"/>
          <p:cNvSpPr/>
          <p:nvPr/>
        </p:nvSpPr>
        <p:spPr>
          <a:xfrm>
            <a:off x="9235440" y="1508760"/>
            <a:ext cx="2468880" cy="4572862"/>
          </a:xfrm>
          <a:prstGeom prst="roundRect">
            <a:avLst>
              <a:gd name="adj" fmla="val 2909"/>
            </a:avLst>
          </a:prstGeom>
          <a:solidFill>
            <a:srgbClr val="EAF4F8"/>
          </a:solidFill>
          <a:ln w="12700">
            <a:solidFill>
              <a:srgbClr val="DCE9EF"/>
            </a:solidFill>
            <a:prstDash val="solid"/>
          </a:ln>
        </p:spPr>
      </p:sp>
      <p:sp>
        <p:nvSpPr>
          <p:cNvPr id="5" name="Shape 2"/>
          <p:cNvSpPr/>
          <p:nvPr/>
        </p:nvSpPr>
        <p:spPr>
          <a:xfrm>
            <a:off x="502919" y="1508758"/>
            <a:ext cx="2514601" cy="4572864"/>
          </a:xfrm>
          <a:prstGeom prst="roundRect">
            <a:avLst>
              <a:gd name="adj" fmla="val 2909"/>
            </a:avLst>
          </a:prstGeom>
          <a:solidFill>
            <a:srgbClr val="EAF4F8"/>
          </a:solidFill>
          <a:ln w="12700">
            <a:solidFill>
              <a:srgbClr val="DCE9EF"/>
            </a:solidFill>
            <a:prstDash val="solid"/>
          </a:ln>
        </p:spPr>
      </p:sp>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ANALYSIS &amp; VISUALIZATION</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Stationarity Test: ACF &amp; PACF</a:t>
            </a:r>
            <a:endParaRPr lang="en-US" sz="3200" dirty="0"/>
          </a:p>
        </p:txBody>
      </p:sp>
      <p:pic>
        <p:nvPicPr>
          <p:cNvPr id="4" name="Image 0" descr="/home/claude/deck/images/1789140215428_image.png"/>
          <p:cNvPicPr>
            <a:picLocks noChangeAspect="1"/>
          </p:cNvPicPr>
          <p:nvPr/>
        </p:nvPicPr>
        <p:blipFill>
          <a:blip r:embed="rId3"/>
          <a:stretch>
            <a:fillRect/>
          </a:stretch>
        </p:blipFill>
        <p:spPr>
          <a:xfrm>
            <a:off x="3200400" y="1508759"/>
            <a:ext cx="5852160" cy="4572863"/>
          </a:xfrm>
          <a:prstGeom prst="rect">
            <a:avLst/>
          </a:prstGeom>
        </p:spPr>
      </p:pic>
      <p:sp>
        <p:nvSpPr>
          <p:cNvPr id="6" name="Text 3"/>
          <p:cNvSpPr txBox="1"/>
          <p:nvPr/>
        </p:nvSpPr>
        <p:spPr>
          <a:xfrm>
            <a:off x="685800" y="1828800"/>
            <a:ext cx="2148840" cy="320040"/>
          </a:xfrm>
          <a:prstGeom prst="rect">
            <a:avLst/>
          </a:prstGeom>
          <a:noFill/>
          <a:ln/>
        </p:spPr>
        <p:txBody>
          <a:bodyPr wrap="square" lIns="0" tIns="0" rIns="0" bIns="0" rtlCol="0" anchor="ctr"/>
          <a:lstStyle/>
          <a:p>
            <a:pPr marL="0" indent="0">
              <a:buNone/>
            </a:pPr>
            <a:r>
              <a:rPr lang="en-US" sz="1300" b="1" dirty="0">
                <a:solidFill>
                  <a:srgbClr val="21295C"/>
                </a:solidFill>
                <a:latin typeface="Cambria" pitchFamily="34" charset="0"/>
                <a:ea typeface="Cambria" pitchFamily="34" charset="-122"/>
                <a:cs typeface="Cambria" pitchFamily="34" charset="-120"/>
              </a:rPr>
              <a:t>Original Data</a:t>
            </a:r>
            <a:endParaRPr lang="en-US" sz="1300" dirty="0"/>
          </a:p>
        </p:txBody>
      </p:sp>
      <p:sp>
        <p:nvSpPr>
          <p:cNvPr id="7" name="Text 4"/>
          <p:cNvSpPr txBox="1"/>
          <p:nvPr/>
        </p:nvSpPr>
        <p:spPr>
          <a:xfrm>
            <a:off x="685800" y="2148840"/>
            <a:ext cx="2148840" cy="1422496"/>
          </a:xfrm>
          <a:prstGeom prst="rect">
            <a:avLst/>
          </a:prstGeom>
          <a:noFill/>
          <a:ln/>
        </p:spPr>
        <p:txBody>
          <a:bodyPr wrap="square" lIns="0" tIns="0" rIns="0" bIns="0" rtlCol="0" anchor="ctr"/>
          <a:lstStyle/>
          <a:p>
            <a:r>
              <a:rPr lang="en-ID" sz="1100" dirty="0"/>
              <a:t>ACF decays slowly &amp; repeats every 12 lags -&gt; strong trend + seasonality, non-stationary; therefore, standard transformations like differencing or seasonal adjustment are mandatory before any reliable statistical modelling or forecasting can take place.</a:t>
            </a:r>
            <a:endParaRPr lang="en-US" sz="1100" dirty="0"/>
          </a:p>
        </p:txBody>
      </p:sp>
      <p:sp>
        <p:nvSpPr>
          <p:cNvPr id="9" name="Text 6"/>
          <p:cNvSpPr txBox="1"/>
          <p:nvPr/>
        </p:nvSpPr>
        <p:spPr>
          <a:xfrm>
            <a:off x="9372600" y="1828800"/>
            <a:ext cx="2148840" cy="548640"/>
          </a:xfrm>
          <a:prstGeom prst="rect">
            <a:avLst/>
          </a:prstGeom>
          <a:noFill/>
          <a:ln/>
        </p:spPr>
        <p:txBody>
          <a:bodyPr wrap="square" lIns="0" tIns="0" rIns="0" bIns="0" rtlCol="0" anchor="ctr"/>
          <a:lstStyle/>
          <a:p>
            <a:pPr marL="0" indent="0">
              <a:buNone/>
            </a:pPr>
            <a:r>
              <a:rPr lang="en-US" sz="1300" b="1" dirty="0">
                <a:solidFill>
                  <a:srgbClr val="21295C"/>
                </a:solidFill>
                <a:latin typeface="Cambria" pitchFamily="34" charset="0"/>
                <a:ea typeface="Cambria" pitchFamily="34" charset="-122"/>
                <a:cs typeface="Cambria" pitchFamily="34" charset="-120"/>
              </a:rPr>
              <a:t>After Differencing</a:t>
            </a:r>
            <a:endParaRPr lang="en-US" sz="1300" dirty="0"/>
          </a:p>
        </p:txBody>
      </p:sp>
      <p:sp>
        <p:nvSpPr>
          <p:cNvPr id="10" name="Text 7"/>
          <p:cNvSpPr txBox="1"/>
          <p:nvPr/>
        </p:nvSpPr>
        <p:spPr>
          <a:xfrm>
            <a:off x="9372600" y="2103120"/>
            <a:ext cx="2148840" cy="1051560"/>
          </a:xfrm>
          <a:prstGeom prst="rect">
            <a:avLst/>
          </a:prstGeom>
          <a:noFill/>
          <a:ln/>
        </p:spPr>
        <p:txBody>
          <a:bodyPr wrap="square" lIns="0" tIns="0" rIns="0" bIns="0" rtlCol="0" anchor="ctr"/>
          <a:lstStyle/>
          <a:p>
            <a:r>
              <a:rPr lang="en-ID" sz="1100" dirty="0"/>
              <a:t>Significant spikes still appear at lag 12 &amp; 24 -&gt; seasonal component needs to be handled separately (supporting SARIMA/Holt-Winters models).</a:t>
            </a:r>
            <a:endParaRPr lang="en-US" sz="1100" dirty="0"/>
          </a:p>
        </p:txBody>
      </p:sp>
      <p:sp>
        <p:nvSpPr>
          <p:cNvPr id="12" name="Text 9"/>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Forecasting: Holt-Winters</a:t>
            </a:r>
            <a:endParaRPr lang="en-US" sz="3200" dirty="0"/>
          </a:p>
        </p:txBody>
      </p:sp>
      <p:pic>
        <p:nvPicPr>
          <p:cNvPr id="4" name="Image 0" descr="/home/claude/deck/images/1789140184805_image.png"/>
          <p:cNvPicPr>
            <a:picLocks noChangeAspect="1"/>
          </p:cNvPicPr>
          <p:nvPr/>
        </p:nvPicPr>
        <p:blipFill>
          <a:blip r:embed="rId3"/>
          <a:stretch>
            <a:fillRect/>
          </a:stretch>
        </p:blipFill>
        <p:spPr>
          <a:xfrm>
            <a:off x="502920" y="1691640"/>
            <a:ext cx="7680960" cy="4389120"/>
          </a:xfrm>
          <a:prstGeom prst="rect">
            <a:avLst/>
          </a:prstGeom>
        </p:spPr>
      </p:pic>
      <p:sp>
        <p:nvSpPr>
          <p:cNvPr id="5" name="Shape 2"/>
          <p:cNvSpPr/>
          <p:nvPr/>
        </p:nvSpPr>
        <p:spPr>
          <a:xfrm>
            <a:off x="8458200" y="983411"/>
            <a:ext cx="3200400" cy="5097349"/>
          </a:xfrm>
          <a:prstGeom prst="roundRect">
            <a:avLst>
              <a:gd name="adj" fmla="val 2286"/>
            </a:avLst>
          </a:prstGeom>
          <a:solidFill>
            <a:srgbClr val="1C7293"/>
          </a:solidFill>
          <a:ln/>
        </p:spPr>
      </p:sp>
      <p:sp>
        <p:nvSpPr>
          <p:cNvPr id="6" name="Text 3"/>
          <p:cNvSpPr txBox="1"/>
          <p:nvPr/>
        </p:nvSpPr>
        <p:spPr>
          <a:xfrm>
            <a:off x="8686800" y="1091672"/>
            <a:ext cx="2743200" cy="5486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Why Holt-Winters?</a:t>
            </a:r>
            <a:endParaRPr lang="en-US" sz="1400" dirty="0"/>
          </a:p>
        </p:txBody>
      </p:sp>
      <p:sp>
        <p:nvSpPr>
          <p:cNvPr id="7" name="Text 4"/>
          <p:cNvSpPr txBox="1"/>
          <p:nvPr/>
        </p:nvSpPr>
        <p:spPr>
          <a:xfrm>
            <a:off x="8641080" y="1405675"/>
            <a:ext cx="2743200" cy="2023325"/>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EAF4F8"/>
                </a:solidFill>
                <a:latin typeface="Calibri" pitchFamily="34" charset="0"/>
                <a:ea typeface="Calibri" pitchFamily="34" charset="-122"/>
                <a:cs typeface="Calibri" pitchFamily="34" charset="-120"/>
              </a:rPr>
              <a:t>Captures both trend and seasonality simultaneously in a single model.</a:t>
            </a:r>
          </a:p>
          <a:p>
            <a:pPr marL="342900" indent="-342900">
              <a:spcAft>
                <a:spcPts val="1000"/>
              </a:spcAft>
              <a:buSzPct val="100000"/>
              <a:buChar char="•"/>
            </a:pPr>
            <a:r>
              <a:rPr lang="en-US" sz="1150" dirty="0">
                <a:solidFill>
                  <a:srgbClr val="EAF4F8"/>
                </a:solidFill>
                <a:latin typeface="Calibri" pitchFamily="34" charset="0"/>
                <a:ea typeface="Calibri" pitchFamily="34" charset="-122"/>
                <a:cs typeface="Calibri" pitchFamily="34" charset="-120"/>
              </a:rPr>
              <a:t>Forecast (red dashed line) closely matches the actual pattern (green line)..</a:t>
            </a:r>
            <a:endParaRPr lang="en-US" sz="1150" dirty="0"/>
          </a:p>
          <a:p>
            <a:pPr marL="342900" indent="-342900">
              <a:spcAft>
                <a:spcPts val="1000"/>
              </a:spcAft>
              <a:buSzPct val="100000"/>
              <a:buChar char="•"/>
            </a:pPr>
            <a:r>
              <a:rPr lang="en-US" sz="1150" dirty="0">
                <a:solidFill>
                  <a:srgbClr val="EAF4F8"/>
                </a:solidFill>
                <a:latin typeface="Calibri" pitchFamily="34" charset="0"/>
                <a:ea typeface="Calibri" pitchFamily="34" charset="-122"/>
                <a:cs typeface="Calibri" pitchFamily="34" charset="-120"/>
              </a:rPr>
              <a:t>Well-suited for time series data with stable seasonality, such as airline passenger volume.</a:t>
            </a:r>
            <a:endParaRPr lang="en-US" sz="1150" dirty="0"/>
          </a:p>
        </p:txBody>
      </p:sp>
      <p:sp>
        <p:nvSpPr>
          <p:cNvPr id="9" name="Text 6"/>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10</a:t>
            </a:r>
            <a:endParaRPr lang="en-US" sz="1000" dirty="0"/>
          </a:p>
        </p:txBody>
      </p:sp>
      <p:sp>
        <p:nvSpPr>
          <p:cNvPr id="11" name="Text 3">
            <a:extLst>
              <a:ext uri="{FF2B5EF4-FFF2-40B4-BE49-F238E27FC236}">
                <a16:creationId xmlns:a16="http://schemas.microsoft.com/office/drawing/2014/main" id="{C286247B-DAB9-F020-3540-FFF4E171C616}"/>
              </a:ext>
            </a:extLst>
          </p:cNvPr>
          <p:cNvSpPr txBox="1"/>
          <p:nvPr/>
        </p:nvSpPr>
        <p:spPr>
          <a:xfrm>
            <a:off x="8686800" y="3164171"/>
            <a:ext cx="2743200" cy="5486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Key Findings?</a:t>
            </a:r>
            <a:endParaRPr lang="en-US" sz="1400" dirty="0"/>
          </a:p>
        </p:txBody>
      </p:sp>
      <p:sp>
        <p:nvSpPr>
          <p:cNvPr id="13" name="Text 4">
            <a:extLst>
              <a:ext uri="{FF2B5EF4-FFF2-40B4-BE49-F238E27FC236}">
                <a16:creationId xmlns:a16="http://schemas.microsoft.com/office/drawing/2014/main" id="{63436A1B-BD61-6BED-CF95-3FC2D5DC8414}"/>
              </a:ext>
            </a:extLst>
          </p:cNvPr>
          <p:cNvSpPr txBox="1"/>
          <p:nvPr/>
        </p:nvSpPr>
        <p:spPr>
          <a:xfrm>
            <a:off x="8641080" y="3822192"/>
            <a:ext cx="2743200" cy="1922999"/>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EAF4F8"/>
                </a:solidFill>
                <a:latin typeface="Calibri" pitchFamily="34" charset="0"/>
                <a:ea typeface="Calibri" pitchFamily="34" charset="-122"/>
                <a:cs typeface="Calibri" pitchFamily="34" charset="-120"/>
              </a:rPr>
              <a:t>The Holt-Winters model demonstrates strong predictive performance by successfully capturing both the underlying upward trend and the repeating seasonal fluctuations in a single framework. </a:t>
            </a:r>
          </a:p>
          <a:p>
            <a:pPr marL="342900" indent="-342900">
              <a:spcAft>
                <a:spcPts val="1000"/>
              </a:spcAft>
              <a:buSzPct val="100000"/>
              <a:buChar char="•"/>
            </a:pPr>
            <a:r>
              <a:rPr lang="en-US" sz="1150" dirty="0">
                <a:solidFill>
                  <a:srgbClr val="EAF4F8"/>
                </a:solidFill>
                <a:latin typeface="Calibri" pitchFamily="34" charset="0"/>
                <a:ea typeface="Calibri" pitchFamily="34" charset="-122"/>
                <a:cs typeface="Calibri" pitchFamily="34" charset="-120"/>
              </a:rPr>
              <a:t>The forecasted trajectory (red dashed line) aligns closely with the actual test data (green line), proving its effectiveness for out-of-sample prediction on data with stable seasonal patterns.</a:t>
            </a:r>
            <a:endParaRPr lang="en-US" sz="1150" dirty="0"/>
          </a:p>
        </p:txBody>
      </p:sp>
      <p:sp>
        <p:nvSpPr>
          <p:cNvPr id="15" name="Text 0">
            <a:extLst>
              <a:ext uri="{FF2B5EF4-FFF2-40B4-BE49-F238E27FC236}">
                <a16:creationId xmlns:a16="http://schemas.microsoft.com/office/drawing/2014/main" id="{25A66BC3-4802-CC94-0595-5C0F01302584}"/>
              </a:ext>
            </a:extLst>
          </p:cNvPr>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ANALYSIS &amp; VISUALIZATION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Forecasting: Prophet Model</a:t>
            </a:r>
            <a:endParaRPr lang="en-US" sz="3200" dirty="0"/>
          </a:p>
        </p:txBody>
      </p:sp>
      <p:pic>
        <p:nvPicPr>
          <p:cNvPr id="4" name="Image 0" descr="/home/claude/deck/images/1789140222076_image.png"/>
          <p:cNvPicPr>
            <a:picLocks noChangeAspect="1"/>
          </p:cNvPicPr>
          <p:nvPr/>
        </p:nvPicPr>
        <p:blipFill>
          <a:blip r:embed="rId3"/>
          <a:stretch>
            <a:fillRect/>
          </a:stretch>
        </p:blipFill>
        <p:spPr>
          <a:xfrm>
            <a:off x="502920" y="1691640"/>
            <a:ext cx="7680960" cy="3429000"/>
          </a:xfrm>
          <a:prstGeom prst="rect">
            <a:avLst/>
          </a:prstGeom>
        </p:spPr>
      </p:pic>
      <p:sp>
        <p:nvSpPr>
          <p:cNvPr id="5" name="Shape 2"/>
          <p:cNvSpPr/>
          <p:nvPr/>
        </p:nvSpPr>
        <p:spPr>
          <a:xfrm>
            <a:off x="502920" y="5257800"/>
            <a:ext cx="2468880" cy="1051560"/>
          </a:xfrm>
          <a:prstGeom prst="roundRect">
            <a:avLst>
              <a:gd name="adj" fmla="val 6957"/>
            </a:avLst>
          </a:prstGeom>
          <a:solidFill>
            <a:srgbClr val="EAF4F8"/>
          </a:solidFill>
          <a:ln w="12700">
            <a:solidFill>
              <a:srgbClr val="DCE9EF"/>
            </a:solidFill>
            <a:prstDash val="solid"/>
          </a:ln>
        </p:spPr>
      </p:sp>
      <p:sp>
        <p:nvSpPr>
          <p:cNvPr id="6" name="Text 3"/>
          <p:cNvSpPr txBox="1"/>
          <p:nvPr/>
        </p:nvSpPr>
        <p:spPr>
          <a:xfrm>
            <a:off x="502920" y="5321808"/>
            <a:ext cx="2468880" cy="548640"/>
          </a:xfrm>
          <a:prstGeom prst="rect">
            <a:avLst/>
          </a:prstGeom>
          <a:noFill/>
          <a:ln/>
        </p:spPr>
        <p:txBody>
          <a:bodyPr wrap="square" lIns="0" tIns="0" rIns="0" bIns="0" rtlCol="0" anchor="ctr"/>
          <a:lstStyle/>
          <a:p>
            <a:pPr marL="0" indent="0" algn="ctr">
              <a:buNone/>
            </a:pPr>
            <a:r>
              <a:rPr lang="en-US" sz="2400" b="1" dirty="0">
                <a:solidFill>
                  <a:srgbClr val="065A82"/>
                </a:solidFill>
                <a:latin typeface="Cambria" pitchFamily="34" charset="0"/>
                <a:ea typeface="Cambria" pitchFamily="34" charset="-122"/>
                <a:cs typeface="Cambria" pitchFamily="34" charset="-120"/>
              </a:rPr>
              <a:t>18.41</a:t>
            </a:r>
            <a:endParaRPr lang="en-US" sz="2400" dirty="0"/>
          </a:p>
        </p:txBody>
      </p:sp>
      <p:sp>
        <p:nvSpPr>
          <p:cNvPr id="7" name="Text 4"/>
          <p:cNvSpPr txBox="1"/>
          <p:nvPr/>
        </p:nvSpPr>
        <p:spPr>
          <a:xfrm>
            <a:off x="502920" y="5870448"/>
            <a:ext cx="2468880" cy="365760"/>
          </a:xfrm>
          <a:prstGeom prst="rect">
            <a:avLst/>
          </a:prstGeom>
          <a:noFill/>
          <a:ln/>
        </p:spPr>
        <p:txBody>
          <a:bodyPr wrap="square" lIns="0" tIns="0" rIns="0" bIns="0" rtlCol="0" anchor="ctr"/>
          <a:lstStyle/>
          <a:p>
            <a:pPr marL="0" indent="0" algn="ctr">
              <a:buNone/>
            </a:pPr>
            <a:r>
              <a:rPr lang="en-US" sz="1100" b="1" kern="0" spc="100" dirty="0">
                <a:solidFill>
                  <a:srgbClr val="5B7180"/>
                </a:solidFill>
                <a:latin typeface="Calibri" pitchFamily="34" charset="0"/>
                <a:ea typeface="Calibri" pitchFamily="34" charset="-122"/>
                <a:cs typeface="Calibri" pitchFamily="34" charset="-120"/>
              </a:rPr>
              <a:t>MAE</a:t>
            </a:r>
            <a:endParaRPr lang="en-US" sz="1100" dirty="0"/>
          </a:p>
        </p:txBody>
      </p:sp>
      <p:sp>
        <p:nvSpPr>
          <p:cNvPr id="8" name="Shape 5"/>
          <p:cNvSpPr/>
          <p:nvPr/>
        </p:nvSpPr>
        <p:spPr>
          <a:xfrm>
            <a:off x="3108960" y="5257800"/>
            <a:ext cx="2468880" cy="1051560"/>
          </a:xfrm>
          <a:prstGeom prst="roundRect">
            <a:avLst>
              <a:gd name="adj" fmla="val 6957"/>
            </a:avLst>
          </a:prstGeom>
          <a:solidFill>
            <a:srgbClr val="EAF4F8"/>
          </a:solidFill>
          <a:ln w="12700">
            <a:solidFill>
              <a:srgbClr val="DCE9EF"/>
            </a:solidFill>
            <a:prstDash val="solid"/>
          </a:ln>
        </p:spPr>
      </p:sp>
      <p:sp>
        <p:nvSpPr>
          <p:cNvPr id="9" name="Text 6"/>
          <p:cNvSpPr txBox="1"/>
          <p:nvPr/>
        </p:nvSpPr>
        <p:spPr>
          <a:xfrm>
            <a:off x="3108960" y="5321808"/>
            <a:ext cx="2468880" cy="548640"/>
          </a:xfrm>
          <a:prstGeom prst="rect">
            <a:avLst/>
          </a:prstGeom>
          <a:noFill/>
          <a:ln/>
        </p:spPr>
        <p:txBody>
          <a:bodyPr wrap="square" lIns="0" tIns="0" rIns="0" bIns="0" rtlCol="0" anchor="ctr"/>
          <a:lstStyle/>
          <a:p>
            <a:pPr marL="0" indent="0" algn="ctr">
              <a:buNone/>
            </a:pPr>
            <a:r>
              <a:rPr lang="en-US" sz="2400" b="1" dirty="0">
                <a:solidFill>
                  <a:srgbClr val="065A82"/>
                </a:solidFill>
                <a:latin typeface="Cambria" pitchFamily="34" charset="0"/>
                <a:ea typeface="Cambria" pitchFamily="34" charset="-122"/>
                <a:cs typeface="Cambria" pitchFamily="34" charset="-120"/>
              </a:rPr>
              <a:t>22.68</a:t>
            </a:r>
            <a:endParaRPr lang="en-US" sz="2400" dirty="0"/>
          </a:p>
        </p:txBody>
      </p:sp>
      <p:sp>
        <p:nvSpPr>
          <p:cNvPr id="10" name="Text 7"/>
          <p:cNvSpPr txBox="1"/>
          <p:nvPr/>
        </p:nvSpPr>
        <p:spPr>
          <a:xfrm>
            <a:off x="3108960" y="5870448"/>
            <a:ext cx="2468880" cy="365760"/>
          </a:xfrm>
          <a:prstGeom prst="rect">
            <a:avLst/>
          </a:prstGeom>
          <a:noFill/>
          <a:ln/>
        </p:spPr>
        <p:txBody>
          <a:bodyPr wrap="square" lIns="0" tIns="0" rIns="0" bIns="0" rtlCol="0" anchor="ctr"/>
          <a:lstStyle/>
          <a:p>
            <a:pPr marL="0" indent="0" algn="ctr">
              <a:buNone/>
            </a:pPr>
            <a:r>
              <a:rPr lang="en-US" sz="1100" b="1" kern="0" spc="100" dirty="0">
                <a:solidFill>
                  <a:srgbClr val="5B7180"/>
                </a:solidFill>
                <a:latin typeface="Calibri" pitchFamily="34" charset="0"/>
                <a:ea typeface="Calibri" pitchFamily="34" charset="-122"/>
                <a:cs typeface="Calibri" pitchFamily="34" charset="-120"/>
              </a:rPr>
              <a:t>RMSE</a:t>
            </a:r>
            <a:endParaRPr lang="en-US" sz="1100" dirty="0"/>
          </a:p>
        </p:txBody>
      </p:sp>
      <p:sp>
        <p:nvSpPr>
          <p:cNvPr id="11" name="Shape 8"/>
          <p:cNvSpPr/>
          <p:nvPr/>
        </p:nvSpPr>
        <p:spPr>
          <a:xfrm>
            <a:off x="5715000" y="5257800"/>
            <a:ext cx="2468880" cy="1051560"/>
          </a:xfrm>
          <a:prstGeom prst="roundRect">
            <a:avLst>
              <a:gd name="adj" fmla="val 6957"/>
            </a:avLst>
          </a:prstGeom>
          <a:solidFill>
            <a:srgbClr val="EAF4F8"/>
          </a:solidFill>
          <a:ln w="12700">
            <a:solidFill>
              <a:srgbClr val="DCE9EF"/>
            </a:solidFill>
            <a:prstDash val="solid"/>
          </a:ln>
        </p:spPr>
      </p:sp>
      <p:sp>
        <p:nvSpPr>
          <p:cNvPr id="12" name="Text 9"/>
          <p:cNvSpPr txBox="1"/>
          <p:nvPr/>
        </p:nvSpPr>
        <p:spPr>
          <a:xfrm>
            <a:off x="5715000" y="5321808"/>
            <a:ext cx="2468880" cy="548640"/>
          </a:xfrm>
          <a:prstGeom prst="rect">
            <a:avLst/>
          </a:prstGeom>
          <a:noFill/>
          <a:ln/>
        </p:spPr>
        <p:txBody>
          <a:bodyPr wrap="square" lIns="0" tIns="0" rIns="0" bIns="0" rtlCol="0" anchor="ctr"/>
          <a:lstStyle/>
          <a:p>
            <a:pPr marL="0" indent="0" algn="ctr">
              <a:buNone/>
            </a:pPr>
            <a:r>
              <a:rPr lang="en-US" sz="2400" b="1" dirty="0">
                <a:solidFill>
                  <a:srgbClr val="065A82"/>
                </a:solidFill>
                <a:latin typeface="Cambria" pitchFamily="34" charset="0"/>
                <a:ea typeface="Cambria" pitchFamily="34" charset="-122"/>
                <a:cs typeface="Cambria" pitchFamily="34" charset="-120"/>
              </a:rPr>
              <a:t>4.08%</a:t>
            </a:r>
            <a:endParaRPr lang="en-US" sz="2400" dirty="0"/>
          </a:p>
        </p:txBody>
      </p:sp>
      <p:sp>
        <p:nvSpPr>
          <p:cNvPr id="13" name="Text 10"/>
          <p:cNvSpPr txBox="1"/>
          <p:nvPr/>
        </p:nvSpPr>
        <p:spPr>
          <a:xfrm>
            <a:off x="5715000" y="5870448"/>
            <a:ext cx="2468880" cy="365760"/>
          </a:xfrm>
          <a:prstGeom prst="rect">
            <a:avLst/>
          </a:prstGeom>
          <a:noFill/>
          <a:ln/>
        </p:spPr>
        <p:txBody>
          <a:bodyPr wrap="square" lIns="0" tIns="0" rIns="0" bIns="0" rtlCol="0" anchor="ctr"/>
          <a:lstStyle/>
          <a:p>
            <a:pPr marL="0" indent="0" algn="ctr">
              <a:buNone/>
            </a:pPr>
            <a:r>
              <a:rPr lang="en-US" sz="1100" b="1" kern="0" spc="100" dirty="0">
                <a:solidFill>
                  <a:srgbClr val="5B7180"/>
                </a:solidFill>
                <a:latin typeface="Calibri" pitchFamily="34" charset="0"/>
                <a:ea typeface="Calibri" pitchFamily="34" charset="-122"/>
                <a:cs typeface="Calibri" pitchFamily="34" charset="-120"/>
              </a:rPr>
              <a:t>MAPE</a:t>
            </a:r>
            <a:endParaRPr lang="en-US" sz="1100" dirty="0"/>
          </a:p>
        </p:txBody>
      </p:sp>
      <p:sp>
        <p:nvSpPr>
          <p:cNvPr id="14" name="Shape 11"/>
          <p:cNvSpPr/>
          <p:nvPr/>
        </p:nvSpPr>
        <p:spPr>
          <a:xfrm>
            <a:off x="8458200" y="1691640"/>
            <a:ext cx="3200400" cy="4617720"/>
          </a:xfrm>
          <a:prstGeom prst="roundRect">
            <a:avLst>
              <a:gd name="adj" fmla="val 2286"/>
            </a:avLst>
          </a:prstGeom>
          <a:solidFill>
            <a:srgbClr val="21295C"/>
          </a:solidFill>
          <a:ln/>
        </p:spPr>
      </p:sp>
      <p:sp>
        <p:nvSpPr>
          <p:cNvPr id="15" name="Text 12"/>
          <p:cNvSpPr txBox="1"/>
          <p:nvPr/>
        </p:nvSpPr>
        <p:spPr>
          <a:xfrm>
            <a:off x="8686800" y="1920240"/>
            <a:ext cx="2743200" cy="45720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Model Accuracy</a:t>
            </a:r>
            <a:endParaRPr lang="en-US" sz="1400" dirty="0"/>
          </a:p>
        </p:txBody>
      </p:sp>
      <p:sp>
        <p:nvSpPr>
          <p:cNvPr id="16" name="Text 13"/>
          <p:cNvSpPr txBox="1"/>
          <p:nvPr/>
        </p:nvSpPr>
        <p:spPr>
          <a:xfrm>
            <a:off x="8686800" y="2247181"/>
            <a:ext cx="2743200" cy="1962509"/>
          </a:xfrm>
          <a:prstGeom prst="rect">
            <a:avLst/>
          </a:prstGeom>
          <a:noFill/>
          <a:ln/>
        </p:spPr>
        <p:txBody>
          <a:bodyPr wrap="square" lIns="0" tIns="0" rIns="0" bIns="0" rtlCol="0" anchor="ctr"/>
          <a:lstStyle/>
          <a:p>
            <a:pPr marL="0" indent="0">
              <a:lnSpc>
                <a:spcPct val="120000"/>
              </a:lnSpc>
              <a:buNone/>
            </a:pPr>
            <a:r>
              <a:rPr lang="en-US" sz="1200" dirty="0">
                <a:solidFill>
                  <a:srgbClr val="CADCE8"/>
                </a:solidFill>
                <a:latin typeface="Calibri" pitchFamily="34" charset="0"/>
                <a:ea typeface="Calibri" pitchFamily="34" charset="-122"/>
                <a:cs typeface="Calibri" pitchFamily="34" charset="-120"/>
              </a:rPr>
              <a:t>The confidence interval (light blue area) remains narrow throughout the period  indicating that the model is confident in its predictions.</a:t>
            </a:r>
          </a:p>
          <a:p>
            <a:pPr marL="0" indent="0">
              <a:lnSpc>
                <a:spcPct val="120000"/>
              </a:lnSpc>
              <a:buNone/>
            </a:pPr>
            <a:endParaRPr lang="en-US" sz="1200" dirty="0">
              <a:solidFill>
                <a:srgbClr val="CADCE8"/>
              </a:solidFill>
              <a:latin typeface="Calibri" pitchFamily="34" charset="0"/>
              <a:ea typeface="Calibri" pitchFamily="34" charset="-122"/>
              <a:cs typeface="Calibri" pitchFamily="34" charset="-120"/>
            </a:endParaRPr>
          </a:p>
          <a:p>
            <a:pPr marL="0" indent="0">
              <a:lnSpc>
                <a:spcPct val="120000"/>
              </a:lnSpc>
              <a:buNone/>
            </a:pPr>
            <a:r>
              <a:rPr lang="en-US" sz="1200" dirty="0">
                <a:solidFill>
                  <a:srgbClr val="CADCE8"/>
                </a:solidFill>
                <a:latin typeface="Calibri" pitchFamily="34" charset="0"/>
                <a:ea typeface="Calibri" pitchFamily="34" charset="-122"/>
                <a:cs typeface="Calibri" pitchFamily="34" charset="-120"/>
              </a:rPr>
              <a:t>An MAPE of 4.08% is classified as highly accurate for business time series data.</a:t>
            </a:r>
            <a:endParaRPr lang="en-US" sz="1200" dirty="0"/>
          </a:p>
        </p:txBody>
      </p:sp>
      <p:sp>
        <p:nvSpPr>
          <p:cNvPr id="18" name="Text 15"/>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11</a:t>
            </a:r>
            <a:endParaRPr lang="en-US" sz="1000" dirty="0"/>
          </a:p>
        </p:txBody>
      </p:sp>
      <p:sp>
        <p:nvSpPr>
          <p:cNvPr id="20" name="Text 0">
            <a:extLst>
              <a:ext uri="{FF2B5EF4-FFF2-40B4-BE49-F238E27FC236}">
                <a16:creationId xmlns:a16="http://schemas.microsoft.com/office/drawing/2014/main" id="{D68E81AF-DFF8-5F51-A049-2098D7FCB6F9}"/>
              </a:ext>
            </a:extLst>
          </p:cNvPr>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ANALYSIS &amp; VISUALIZATION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Prophet Components: Trend &amp; Yearly Seasonality</a:t>
            </a:r>
            <a:endParaRPr lang="en-US" sz="3200" dirty="0"/>
          </a:p>
        </p:txBody>
      </p:sp>
      <p:pic>
        <p:nvPicPr>
          <p:cNvPr id="4" name="Image 0" descr="/home/claude/deck/images/1789140225211_image.png"/>
          <p:cNvPicPr>
            <a:picLocks noChangeAspect="1"/>
          </p:cNvPicPr>
          <p:nvPr/>
        </p:nvPicPr>
        <p:blipFill>
          <a:blip r:embed="rId3"/>
          <a:stretch>
            <a:fillRect/>
          </a:stretch>
        </p:blipFill>
        <p:spPr>
          <a:xfrm>
            <a:off x="502920" y="1691640"/>
            <a:ext cx="7772400" cy="4572000"/>
          </a:xfrm>
          <a:prstGeom prst="rect">
            <a:avLst/>
          </a:prstGeom>
        </p:spPr>
      </p:pic>
      <p:sp>
        <p:nvSpPr>
          <p:cNvPr id="5" name="Shape 2"/>
          <p:cNvSpPr/>
          <p:nvPr/>
        </p:nvSpPr>
        <p:spPr>
          <a:xfrm>
            <a:off x="8503920" y="1691640"/>
            <a:ext cx="3154680" cy="4572000"/>
          </a:xfrm>
          <a:prstGeom prst="roundRect">
            <a:avLst>
              <a:gd name="adj" fmla="val 2319"/>
            </a:avLst>
          </a:prstGeom>
          <a:solidFill>
            <a:srgbClr val="EAF4F8"/>
          </a:solidFill>
          <a:ln w="12700">
            <a:solidFill>
              <a:srgbClr val="DCE9EF"/>
            </a:solidFill>
            <a:prstDash val="solid"/>
          </a:ln>
        </p:spPr>
      </p:sp>
      <p:sp>
        <p:nvSpPr>
          <p:cNvPr id="6" name="Text 3"/>
          <p:cNvSpPr txBox="1"/>
          <p:nvPr/>
        </p:nvSpPr>
        <p:spPr>
          <a:xfrm>
            <a:off x="8686800" y="1874520"/>
            <a:ext cx="2788920" cy="365760"/>
          </a:xfrm>
          <a:prstGeom prst="rect">
            <a:avLst/>
          </a:prstGeom>
          <a:noFill/>
          <a:ln/>
        </p:spPr>
        <p:txBody>
          <a:bodyPr wrap="square" lIns="0" tIns="0" rIns="0" bIns="0" rtlCol="0" anchor="ctr"/>
          <a:lstStyle/>
          <a:p>
            <a:pPr marL="0" indent="0">
              <a:buNone/>
            </a:pPr>
            <a:r>
              <a:rPr lang="en-US" sz="1400" b="1" dirty="0">
                <a:solidFill>
                  <a:srgbClr val="21295C"/>
                </a:solidFill>
                <a:latin typeface="Cambria" pitchFamily="34" charset="0"/>
                <a:ea typeface="Cambria" pitchFamily="34" charset="-122"/>
                <a:cs typeface="Cambria" pitchFamily="34" charset="-120"/>
              </a:rPr>
              <a:t>Interpretation:</a:t>
            </a:r>
            <a:endParaRPr lang="en-US" sz="1400" dirty="0"/>
          </a:p>
        </p:txBody>
      </p:sp>
      <p:sp>
        <p:nvSpPr>
          <p:cNvPr id="7" name="Text 4"/>
          <p:cNvSpPr txBox="1"/>
          <p:nvPr/>
        </p:nvSpPr>
        <p:spPr>
          <a:xfrm>
            <a:off x="8714232" y="2240280"/>
            <a:ext cx="2788920" cy="1910751"/>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1B2733"/>
                </a:solidFill>
                <a:latin typeface="Calibri" pitchFamily="34" charset="0"/>
                <a:ea typeface="Calibri" pitchFamily="34" charset="-122"/>
                <a:cs typeface="Calibri" pitchFamily="34" charset="-120"/>
              </a:rPr>
              <a:t>Long-term trend increases consistently with no signs of slowdown through late 1960.</a:t>
            </a:r>
          </a:p>
          <a:p>
            <a:pPr marL="342900" indent="-342900">
              <a:spcAft>
                <a:spcPts val="1000"/>
              </a:spcAft>
              <a:buSzPct val="100000"/>
              <a:buChar char="•"/>
            </a:pPr>
            <a:r>
              <a:rPr lang="en-US" sz="1150" dirty="0">
                <a:solidFill>
                  <a:srgbClr val="1B2733"/>
                </a:solidFill>
                <a:latin typeface="Calibri" pitchFamily="34" charset="0"/>
                <a:ea typeface="Calibri" pitchFamily="34" charset="-122"/>
                <a:cs typeface="Calibri" pitchFamily="34" charset="-120"/>
              </a:rPr>
              <a:t>Annual seasonal effect peaks around late June early July (+~50%) and drops sharply in November (~-30%).</a:t>
            </a:r>
          </a:p>
          <a:p>
            <a:pPr marL="342900" indent="-342900">
              <a:spcAft>
                <a:spcPts val="1000"/>
              </a:spcAft>
              <a:buSzPct val="100000"/>
              <a:buChar char="•"/>
            </a:pPr>
            <a:r>
              <a:rPr lang="en-US" sz="1150" dirty="0">
                <a:solidFill>
                  <a:srgbClr val="1B2733"/>
                </a:solidFill>
                <a:latin typeface="Calibri" pitchFamily="34" charset="0"/>
                <a:ea typeface="Calibri" pitchFamily="34" charset="-122"/>
                <a:cs typeface="Calibri" pitchFamily="34" charset="-120"/>
              </a:rPr>
              <a:t>Double seasonal shape (minor peaks in March &amp; August) indicates distinct holiday periods.</a:t>
            </a:r>
            <a:endParaRPr lang="en-US" sz="1150" dirty="0"/>
          </a:p>
        </p:txBody>
      </p:sp>
      <p:sp>
        <p:nvSpPr>
          <p:cNvPr id="9" name="Text 6"/>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12</a:t>
            </a:r>
            <a:endParaRPr lang="en-US" sz="1000" dirty="0"/>
          </a:p>
        </p:txBody>
      </p:sp>
      <p:sp>
        <p:nvSpPr>
          <p:cNvPr id="11" name="Text 0">
            <a:extLst>
              <a:ext uri="{FF2B5EF4-FFF2-40B4-BE49-F238E27FC236}">
                <a16:creationId xmlns:a16="http://schemas.microsoft.com/office/drawing/2014/main" id="{48185F35-8BBD-CE13-41B7-1CC99B6E621E}"/>
              </a:ext>
            </a:extLst>
          </p:cNvPr>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ANALYSIS &amp; VISUALIZATION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Key Findings</a:t>
            </a:r>
            <a:endParaRPr lang="en-US" sz="3200" dirty="0"/>
          </a:p>
        </p:txBody>
      </p:sp>
      <p:sp>
        <p:nvSpPr>
          <p:cNvPr id="4" name="Shape 2"/>
          <p:cNvSpPr/>
          <p:nvPr/>
        </p:nvSpPr>
        <p:spPr>
          <a:xfrm>
            <a:off x="548640" y="1783080"/>
            <a:ext cx="640080" cy="1051560"/>
          </a:xfrm>
          <a:prstGeom prst="roundRect">
            <a:avLst>
              <a:gd name="adj" fmla="val 11429"/>
            </a:avLst>
          </a:prstGeom>
          <a:solidFill>
            <a:srgbClr val="065A82"/>
          </a:solidFill>
          <a:ln/>
        </p:spPr>
      </p:sp>
      <p:sp>
        <p:nvSpPr>
          <p:cNvPr id="5" name="Text 3"/>
          <p:cNvSpPr txBox="1"/>
          <p:nvPr/>
        </p:nvSpPr>
        <p:spPr>
          <a:xfrm>
            <a:off x="548640" y="1783080"/>
            <a:ext cx="640080" cy="10515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1371600" y="1970532"/>
            <a:ext cx="10241280" cy="365760"/>
          </a:xfrm>
          <a:prstGeom prst="rect">
            <a:avLst/>
          </a:prstGeom>
          <a:noFill/>
          <a:ln/>
        </p:spPr>
        <p:txBody>
          <a:bodyPr wrap="square" lIns="0" tIns="0" rIns="0" bIns="0"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Seasonal Peak Demand</a:t>
            </a:r>
            <a:endParaRPr lang="en-US" sz="2000" dirty="0"/>
          </a:p>
        </p:txBody>
      </p:sp>
      <p:sp>
        <p:nvSpPr>
          <p:cNvPr id="7" name="Text 5"/>
          <p:cNvSpPr txBox="1"/>
          <p:nvPr/>
        </p:nvSpPr>
        <p:spPr>
          <a:xfrm>
            <a:off x="1371600" y="2130552"/>
            <a:ext cx="10241280" cy="685800"/>
          </a:xfrm>
          <a:prstGeom prst="rect">
            <a:avLst/>
          </a:prstGeom>
          <a:noFill/>
          <a:ln/>
        </p:spPr>
        <p:txBody>
          <a:bodyPr wrap="square" lIns="0" tIns="0" rIns="0" bIns="0" rtlCol="0" anchor="ctr"/>
          <a:lstStyle/>
          <a:p>
            <a:pPr marL="0" indent="0">
              <a:lnSpc>
                <a:spcPct val="115000"/>
              </a:lnSpc>
              <a:buNone/>
            </a:pPr>
            <a:r>
              <a:rPr lang="en-US" sz="1250" dirty="0">
                <a:solidFill>
                  <a:srgbClr val="1B2733"/>
                </a:solidFill>
                <a:latin typeface="Calibri" pitchFamily="34" charset="0"/>
                <a:ea typeface="Calibri" pitchFamily="34" charset="-122"/>
                <a:cs typeface="Calibri" pitchFamily="34" charset="-120"/>
              </a:rPr>
              <a:t>Highest demand consistently occurs every July–August (seasonal factor 1.22–1.23), aligning with the summer holiday season.</a:t>
            </a:r>
            <a:endParaRPr lang="en-US" sz="1250" dirty="0"/>
          </a:p>
        </p:txBody>
      </p:sp>
      <p:sp>
        <p:nvSpPr>
          <p:cNvPr id="8" name="Shape 6"/>
          <p:cNvSpPr/>
          <p:nvPr/>
        </p:nvSpPr>
        <p:spPr>
          <a:xfrm>
            <a:off x="548640" y="2971800"/>
            <a:ext cx="640080" cy="1051560"/>
          </a:xfrm>
          <a:prstGeom prst="roundRect">
            <a:avLst>
              <a:gd name="adj" fmla="val 11429"/>
            </a:avLst>
          </a:prstGeom>
          <a:solidFill>
            <a:srgbClr val="065A82"/>
          </a:solidFill>
          <a:ln/>
        </p:spPr>
      </p:sp>
      <p:sp>
        <p:nvSpPr>
          <p:cNvPr id="9" name="Text 7"/>
          <p:cNvSpPr txBox="1"/>
          <p:nvPr/>
        </p:nvSpPr>
        <p:spPr>
          <a:xfrm>
            <a:off x="548640" y="2971800"/>
            <a:ext cx="640080" cy="10515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1371600" y="3182112"/>
            <a:ext cx="10241280" cy="365760"/>
          </a:xfrm>
          <a:prstGeom prst="rect">
            <a:avLst/>
          </a:prstGeom>
          <a:noFill/>
          <a:ln/>
        </p:spPr>
        <p:txBody>
          <a:bodyPr wrap="square" lIns="0" tIns="0" rIns="0" bIns="0" rtlCol="0" anchor="ctr"/>
          <a:lstStyle>
            <a:lvl1pPr indent="0">
              <a:buNone/>
              <a:defRPr sz="2000" b="1">
                <a:solidFill>
                  <a:srgbClr val="21295C"/>
                </a:solidFill>
                <a:latin typeface="Cambria" pitchFamily="34" charset="0"/>
                <a:ea typeface="Cambria" pitchFamily="34" charset="-122"/>
                <a:cs typeface="Cambria" pitchFamily="34" charset="-120"/>
              </a:defRPr>
            </a:lvl1pPr>
          </a:lstStyle>
          <a:p>
            <a:r>
              <a:rPr lang="en-US" dirty="0"/>
              <a:t>Sustainable Growth Trend</a:t>
            </a:r>
          </a:p>
        </p:txBody>
      </p:sp>
      <p:sp>
        <p:nvSpPr>
          <p:cNvPr id="11" name="Text 9"/>
          <p:cNvSpPr txBox="1"/>
          <p:nvPr/>
        </p:nvSpPr>
        <p:spPr>
          <a:xfrm>
            <a:off x="1371600" y="3319272"/>
            <a:ext cx="10241280" cy="685800"/>
          </a:xfrm>
          <a:prstGeom prst="rect">
            <a:avLst/>
          </a:prstGeom>
          <a:noFill/>
          <a:ln/>
        </p:spPr>
        <p:txBody>
          <a:bodyPr wrap="square" lIns="0" tIns="0" rIns="0" bIns="0" rtlCol="0" anchor="ctr"/>
          <a:lstStyle/>
          <a:p>
            <a:pPr marL="0" indent="0">
              <a:lnSpc>
                <a:spcPct val="115000"/>
              </a:lnSpc>
              <a:buNone/>
            </a:pPr>
            <a:r>
              <a:rPr lang="en-US" sz="1250" dirty="0">
                <a:solidFill>
                  <a:srgbClr val="1B2733"/>
                </a:solidFill>
                <a:latin typeface="Calibri" pitchFamily="34" charset="0"/>
                <a:ea typeface="Calibri" pitchFamily="34" charset="-122"/>
                <a:cs typeface="Calibri" pitchFamily="34" charset="-120"/>
              </a:rPr>
              <a:t>Passenger volume grew nearly linearly from ~130 thousand (1949) to ~470 thousand (1960) — with no signs of slowdown.</a:t>
            </a:r>
            <a:endParaRPr lang="en-US" sz="1250" dirty="0"/>
          </a:p>
        </p:txBody>
      </p:sp>
      <p:sp>
        <p:nvSpPr>
          <p:cNvPr id="12" name="Shape 10"/>
          <p:cNvSpPr/>
          <p:nvPr/>
        </p:nvSpPr>
        <p:spPr>
          <a:xfrm>
            <a:off x="548640" y="4160520"/>
            <a:ext cx="640080" cy="1051560"/>
          </a:xfrm>
          <a:prstGeom prst="roundRect">
            <a:avLst>
              <a:gd name="adj" fmla="val 11429"/>
            </a:avLst>
          </a:prstGeom>
          <a:solidFill>
            <a:srgbClr val="065A82"/>
          </a:solidFill>
          <a:ln/>
        </p:spPr>
      </p:sp>
      <p:sp>
        <p:nvSpPr>
          <p:cNvPr id="13" name="Text 11"/>
          <p:cNvSpPr txBox="1"/>
          <p:nvPr/>
        </p:nvSpPr>
        <p:spPr>
          <a:xfrm>
            <a:off x="548640" y="4160520"/>
            <a:ext cx="640080" cy="10515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1370737" y="4343400"/>
            <a:ext cx="10241280" cy="365760"/>
          </a:xfrm>
          <a:prstGeom prst="rect">
            <a:avLst/>
          </a:prstGeom>
          <a:noFill/>
          <a:ln/>
        </p:spPr>
        <p:txBody>
          <a:bodyPr wrap="square" lIns="0" tIns="0" rIns="0" bIns="0" rtlCol="0" anchor="ctr"/>
          <a:lstStyle>
            <a:lvl1pPr indent="0">
              <a:buNone/>
              <a:defRPr sz="2000" b="1">
                <a:solidFill>
                  <a:srgbClr val="21295C"/>
                </a:solidFill>
                <a:latin typeface="Cambria" pitchFamily="34" charset="0"/>
                <a:ea typeface="Cambria" pitchFamily="34" charset="-122"/>
                <a:cs typeface="Cambria" pitchFamily="34" charset="-120"/>
              </a:defRPr>
            </a:lvl1pPr>
          </a:lstStyle>
          <a:p>
            <a:r>
              <a:rPr lang="en-US" dirty="0"/>
              <a:t>Strong Seasonality, Not a Random Walk</a:t>
            </a:r>
          </a:p>
        </p:txBody>
      </p:sp>
      <p:sp>
        <p:nvSpPr>
          <p:cNvPr id="15" name="Text 13"/>
          <p:cNvSpPr txBox="1"/>
          <p:nvPr/>
        </p:nvSpPr>
        <p:spPr>
          <a:xfrm>
            <a:off x="1371600" y="4507992"/>
            <a:ext cx="10241280" cy="685800"/>
          </a:xfrm>
          <a:prstGeom prst="rect">
            <a:avLst/>
          </a:prstGeom>
          <a:noFill/>
          <a:ln/>
        </p:spPr>
        <p:txBody>
          <a:bodyPr wrap="square" lIns="0" tIns="0" rIns="0" bIns="0" rtlCol="0" anchor="ctr"/>
          <a:lstStyle/>
          <a:p>
            <a:pPr marL="0" indent="0">
              <a:lnSpc>
                <a:spcPct val="115000"/>
              </a:lnSpc>
              <a:buNone/>
            </a:pPr>
            <a:r>
              <a:rPr lang="en-US" sz="1250" dirty="0">
                <a:solidFill>
                  <a:srgbClr val="1B2733"/>
                </a:solidFill>
                <a:latin typeface="Calibri" pitchFamily="34" charset="0"/>
                <a:ea typeface="Calibri" pitchFamily="34" charset="-122"/>
                <a:cs typeface="Calibri" pitchFamily="34" charset="-120"/>
              </a:rPr>
              <a:t>ADF test shows data is only stationary after seasonal differencing (lag 12), confirming the seasonal pattern as a dominant component, not noise.</a:t>
            </a:r>
            <a:endParaRPr lang="en-US" sz="1250" dirty="0"/>
          </a:p>
        </p:txBody>
      </p:sp>
      <p:sp>
        <p:nvSpPr>
          <p:cNvPr id="16" name="Shape 14"/>
          <p:cNvSpPr/>
          <p:nvPr/>
        </p:nvSpPr>
        <p:spPr>
          <a:xfrm>
            <a:off x="548640" y="5349240"/>
            <a:ext cx="640080" cy="1051560"/>
          </a:xfrm>
          <a:prstGeom prst="roundRect">
            <a:avLst>
              <a:gd name="adj" fmla="val 11429"/>
            </a:avLst>
          </a:prstGeom>
          <a:solidFill>
            <a:srgbClr val="065A82"/>
          </a:solidFill>
          <a:ln/>
        </p:spPr>
      </p:sp>
      <p:sp>
        <p:nvSpPr>
          <p:cNvPr id="17" name="Text 15"/>
          <p:cNvSpPr txBox="1"/>
          <p:nvPr/>
        </p:nvSpPr>
        <p:spPr>
          <a:xfrm>
            <a:off x="548640" y="5349240"/>
            <a:ext cx="640080" cy="105156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8" name="Text 16"/>
          <p:cNvSpPr txBox="1"/>
          <p:nvPr/>
        </p:nvSpPr>
        <p:spPr>
          <a:xfrm>
            <a:off x="1370737" y="5513832"/>
            <a:ext cx="10241280" cy="365760"/>
          </a:xfrm>
          <a:prstGeom prst="rect">
            <a:avLst/>
          </a:prstGeom>
          <a:noFill/>
          <a:ln/>
        </p:spPr>
        <p:txBody>
          <a:bodyPr wrap="square" lIns="0" tIns="0" rIns="0" bIns="0" rtlCol="0" anchor="ctr"/>
          <a:lstStyle>
            <a:lvl1pPr indent="0">
              <a:buNone/>
              <a:defRPr sz="2000" b="1">
                <a:solidFill>
                  <a:srgbClr val="21295C"/>
                </a:solidFill>
                <a:latin typeface="Cambria" pitchFamily="34" charset="0"/>
                <a:ea typeface="Cambria" pitchFamily="34" charset="-122"/>
                <a:cs typeface="Cambria" pitchFamily="34" charset="-120"/>
              </a:defRPr>
            </a:lvl1pPr>
          </a:lstStyle>
          <a:p>
            <a:r>
              <a:rPr lang="en-US" dirty="0"/>
              <a:t>Seasonal-Based Models Are Highly Accurate</a:t>
            </a:r>
          </a:p>
        </p:txBody>
      </p:sp>
      <p:sp>
        <p:nvSpPr>
          <p:cNvPr id="19" name="Text 17"/>
          <p:cNvSpPr txBox="1"/>
          <p:nvPr/>
        </p:nvSpPr>
        <p:spPr>
          <a:xfrm>
            <a:off x="1371600" y="5696712"/>
            <a:ext cx="10241280" cy="685800"/>
          </a:xfrm>
          <a:prstGeom prst="rect">
            <a:avLst/>
          </a:prstGeom>
          <a:noFill/>
          <a:ln/>
        </p:spPr>
        <p:txBody>
          <a:bodyPr wrap="square" lIns="0" tIns="0" rIns="0" bIns="0" rtlCol="0" anchor="ctr"/>
          <a:lstStyle/>
          <a:p>
            <a:pPr marL="0" indent="0">
              <a:lnSpc>
                <a:spcPct val="115000"/>
              </a:lnSpc>
              <a:buNone/>
            </a:pPr>
            <a:r>
              <a:rPr lang="en-US" sz="1250" dirty="0">
                <a:solidFill>
                  <a:srgbClr val="1B2733"/>
                </a:solidFill>
                <a:latin typeface="Calibri" pitchFamily="34" charset="0"/>
                <a:ea typeface="Calibri" pitchFamily="34" charset="-122"/>
                <a:cs typeface="Calibri" pitchFamily="34" charset="-120"/>
              </a:rPr>
              <a:t>Holt-Winters and Prophet yield high-precision forecasts (MAPE 4.08%), making them reliable for short-to-medium-term capacity planning.</a:t>
            </a:r>
            <a:endParaRPr lang="en-US" sz="1250" dirty="0"/>
          </a:p>
        </p:txBody>
      </p:sp>
      <p:sp>
        <p:nvSpPr>
          <p:cNvPr id="21" name="Text 19"/>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13</a:t>
            </a:r>
            <a:endParaRPr lang="en-US" sz="1000" dirty="0"/>
          </a:p>
        </p:txBody>
      </p:sp>
      <p:sp>
        <p:nvSpPr>
          <p:cNvPr id="23" name="Text 0">
            <a:extLst>
              <a:ext uri="{FF2B5EF4-FFF2-40B4-BE49-F238E27FC236}">
                <a16:creationId xmlns:a16="http://schemas.microsoft.com/office/drawing/2014/main" id="{AEF773A2-F678-9A78-03A1-2890E992D4A5}"/>
              </a:ext>
            </a:extLst>
          </p:cNvPr>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INSIGHT &amp; RECOMMENDATION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Strategic Recommendations</a:t>
            </a:r>
            <a:endParaRPr lang="en-US" sz="3200" dirty="0"/>
          </a:p>
        </p:txBody>
      </p:sp>
      <p:sp>
        <p:nvSpPr>
          <p:cNvPr id="4" name="Shape 2"/>
          <p:cNvSpPr/>
          <p:nvPr/>
        </p:nvSpPr>
        <p:spPr>
          <a:xfrm>
            <a:off x="548640" y="1783080"/>
            <a:ext cx="5440680" cy="2148840"/>
          </a:xfrm>
          <a:prstGeom prst="roundRect">
            <a:avLst>
              <a:gd name="adj" fmla="val 3404"/>
            </a:avLst>
          </a:prstGeom>
          <a:solidFill>
            <a:srgbClr val="EAF4F8"/>
          </a:solidFill>
          <a:ln w="12700">
            <a:solidFill>
              <a:srgbClr val="DCE9EF"/>
            </a:solidFill>
            <a:prstDash val="solid"/>
          </a:ln>
        </p:spPr>
      </p:sp>
      <p:sp>
        <p:nvSpPr>
          <p:cNvPr id="5" name="Shape 3"/>
          <p:cNvSpPr/>
          <p:nvPr/>
        </p:nvSpPr>
        <p:spPr>
          <a:xfrm>
            <a:off x="777240" y="2011680"/>
            <a:ext cx="457200" cy="457200"/>
          </a:xfrm>
          <a:prstGeom prst="roundRect">
            <a:avLst>
              <a:gd name="adj" fmla="val 50000"/>
            </a:avLst>
          </a:prstGeom>
          <a:solidFill>
            <a:srgbClr val="1C7293"/>
          </a:solidFill>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417320" y="1984248"/>
            <a:ext cx="4343400" cy="548640"/>
          </a:xfrm>
          <a:prstGeom prst="rect">
            <a:avLst/>
          </a:prstGeom>
          <a:noFill/>
          <a:ln/>
        </p:spPr>
        <p:txBody>
          <a:bodyPr wrap="square" lIns="0" tIns="0" rIns="0" bIns="0"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When to Add Capacity</a:t>
            </a:r>
            <a:endParaRPr lang="en-US" sz="1450" dirty="0"/>
          </a:p>
        </p:txBody>
      </p:sp>
      <p:sp>
        <p:nvSpPr>
          <p:cNvPr id="8" name="Text 6"/>
          <p:cNvSpPr txBox="1"/>
          <p:nvPr/>
        </p:nvSpPr>
        <p:spPr>
          <a:xfrm>
            <a:off x="777240" y="2468880"/>
            <a:ext cx="4983480" cy="1143000"/>
          </a:xfrm>
          <a:prstGeom prst="rect">
            <a:avLst/>
          </a:prstGeom>
          <a:noFill/>
          <a:ln/>
        </p:spPr>
        <p:txBody>
          <a:bodyPr wrap="square" lIns="0" tIns="0" rIns="0" bIns="0" rtlCol="0" anchor="ctr"/>
          <a:lstStyle/>
          <a:p>
            <a:pPr marL="0" indent="0">
              <a:lnSpc>
                <a:spcPct val="118000"/>
              </a:lnSpc>
              <a:buNone/>
            </a:pPr>
            <a:r>
              <a:rPr lang="en-US" sz="1200" dirty="0">
                <a:solidFill>
                  <a:srgbClr val="1B2733"/>
                </a:solidFill>
                <a:latin typeface="Calibri" pitchFamily="34" charset="0"/>
                <a:ea typeface="Calibri" pitchFamily="34" charset="-122"/>
                <a:cs typeface="Calibri" pitchFamily="34" charset="-120"/>
              </a:rPr>
              <a:t>To successfully anticipate seasonal demand surges between June and August, airlines must proactively scale operations by increasing fleet availability through short-term leases, optimizing flight schedules on high-demand leisure routes, and aggressively recruiting, training, and rostering additional staff.</a:t>
            </a:r>
            <a:endParaRPr lang="en-US" sz="1200" dirty="0"/>
          </a:p>
        </p:txBody>
      </p:sp>
      <p:sp>
        <p:nvSpPr>
          <p:cNvPr id="9" name="Shape 7"/>
          <p:cNvSpPr/>
          <p:nvPr/>
        </p:nvSpPr>
        <p:spPr>
          <a:xfrm>
            <a:off x="6263640" y="1783080"/>
            <a:ext cx="5440680" cy="2148840"/>
          </a:xfrm>
          <a:prstGeom prst="roundRect">
            <a:avLst>
              <a:gd name="adj" fmla="val 3404"/>
            </a:avLst>
          </a:prstGeom>
          <a:solidFill>
            <a:srgbClr val="EAF4F8"/>
          </a:solidFill>
          <a:ln w="12700">
            <a:solidFill>
              <a:srgbClr val="DCE9EF"/>
            </a:solidFill>
            <a:prstDash val="solid"/>
          </a:ln>
        </p:spPr>
      </p:sp>
      <p:sp>
        <p:nvSpPr>
          <p:cNvPr id="10" name="Shape 8"/>
          <p:cNvSpPr/>
          <p:nvPr/>
        </p:nvSpPr>
        <p:spPr>
          <a:xfrm>
            <a:off x="6492240" y="2011680"/>
            <a:ext cx="457200" cy="457200"/>
          </a:xfrm>
          <a:prstGeom prst="roundRect">
            <a:avLst>
              <a:gd name="adj" fmla="val 50000"/>
            </a:avLst>
          </a:prstGeom>
          <a:solidFill>
            <a:srgbClr val="1C7293"/>
          </a:solidFill>
          <a:ln/>
        </p:spPr>
      </p:sp>
      <p:sp>
        <p:nvSpPr>
          <p:cNvPr id="11" name="Text 9"/>
          <p:cNvSpPr txBox="1"/>
          <p:nvPr/>
        </p:nvSpPr>
        <p:spPr>
          <a:xfrm>
            <a:off x="6492240" y="20116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132320" y="1984248"/>
            <a:ext cx="4343400" cy="548640"/>
          </a:xfrm>
          <a:prstGeom prst="rect">
            <a:avLst/>
          </a:prstGeom>
          <a:noFill/>
          <a:ln/>
        </p:spPr>
        <p:txBody>
          <a:bodyPr wrap="square" lIns="0" tIns="0" rIns="0" bIns="0"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When to Add Inventory/Stock</a:t>
            </a:r>
            <a:endParaRPr lang="en-US" sz="1450" dirty="0"/>
          </a:p>
        </p:txBody>
      </p:sp>
      <p:sp>
        <p:nvSpPr>
          <p:cNvPr id="13" name="Text 11"/>
          <p:cNvSpPr txBox="1"/>
          <p:nvPr/>
        </p:nvSpPr>
        <p:spPr>
          <a:xfrm>
            <a:off x="6464808" y="2460599"/>
            <a:ext cx="5239512" cy="1417320"/>
          </a:xfrm>
          <a:prstGeom prst="rect">
            <a:avLst/>
          </a:prstGeom>
          <a:noFill/>
          <a:ln/>
        </p:spPr>
        <p:txBody>
          <a:bodyPr wrap="square" lIns="0" tIns="0" rIns="0" bIns="0" rtlCol="0" anchor="ctr"/>
          <a:lstStyle/>
          <a:p>
            <a:pPr marL="0" indent="0">
              <a:lnSpc>
                <a:spcPct val="118000"/>
              </a:lnSpc>
              <a:buNone/>
            </a:pPr>
            <a:r>
              <a:rPr lang="en-US" sz="1200" dirty="0">
                <a:solidFill>
                  <a:srgbClr val="1B2733"/>
                </a:solidFill>
                <a:latin typeface="Calibri" pitchFamily="34" charset="0"/>
                <a:ea typeface="Calibri" pitchFamily="34" charset="-122"/>
                <a:cs typeface="Calibri" pitchFamily="34" charset="-120"/>
              </a:rPr>
              <a:t>Prior to the high-demand summer peak in June, airlines need to proactively stock up on essential supplies such as fuel, catering provisions, and aircraft spare parts to avoid shortages and pricing spikes. Conversely, during the slower winter months of November and December, operations should lean into a reduction of stock levels to minimize holding costs, eliminate waste, and optimize working capital when flight volumes</a:t>
            </a:r>
            <a:endParaRPr lang="en-US" sz="1200" dirty="0"/>
          </a:p>
        </p:txBody>
      </p:sp>
      <p:sp>
        <p:nvSpPr>
          <p:cNvPr id="14" name="Shape 12"/>
          <p:cNvSpPr/>
          <p:nvPr/>
        </p:nvSpPr>
        <p:spPr>
          <a:xfrm>
            <a:off x="548640" y="4206240"/>
            <a:ext cx="5440680" cy="2148840"/>
          </a:xfrm>
          <a:prstGeom prst="roundRect">
            <a:avLst>
              <a:gd name="adj" fmla="val 3404"/>
            </a:avLst>
          </a:prstGeom>
          <a:solidFill>
            <a:srgbClr val="EAF4F8"/>
          </a:solidFill>
          <a:ln w="12700">
            <a:solidFill>
              <a:srgbClr val="DCE9EF"/>
            </a:solidFill>
            <a:prstDash val="solid"/>
          </a:ln>
        </p:spPr>
      </p:sp>
      <p:sp>
        <p:nvSpPr>
          <p:cNvPr id="15" name="Shape 13"/>
          <p:cNvSpPr/>
          <p:nvPr/>
        </p:nvSpPr>
        <p:spPr>
          <a:xfrm>
            <a:off x="777240" y="4434840"/>
            <a:ext cx="457200" cy="457200"/>
          </a:xfrm>
          <a:prstGeom prst="roundRect">
            <a:avLst>
              <a:gd name="adj" fmla="val 50000"/>
            </a:avLst>
          </a:prstGeom>
          <a:solidFill>
            <a:srgbClr val="1C7293"/>
          </a:solidFill>
          <a:ln/>
        </p:spPr>
      </p:sp>
      <p:sp>
        <p:nvSpPr>
          <p:cNvPr id="16" name="Text 14"/>
          <p:cNvSpPr txBox="1"/>
          <p:nvPr/>
        </p:nvSpPr>
        <p:spPr>
          <a:xfrm>
            <a:off x="77724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417320" y="4407408"/>
            <a:ext cx="4343400" cy="548640"/>
          </a:xfrm>
          <a:prstGeom prst="rect">
            <a:avLst/>
          </a:prstGeom>
          <a:noFill/>
          <a:ln/>
        </p:spPr>
        <p:txBody>
          <a:bodyPr wrap="square" lIns="0" tIns="0" rIns="0" bIns="0"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Dynamic Pricing Strategy</a:t>
            </a:r>
            <a:endParaRPr lang="en-US" sz="1450" dirty="0"/>
          </a:p>
        </p:txBody>
      </p:sp>
      <p:sp>
        <p:nvSpPr>
          <p:cNvPr id="18" name="Text 16"/>
          <p:cNvSpPr txBox="1"/>
          <p:nvPr/>
        </p:nvSpPr>
        <p:spPr>
          <a:xfrm>
            <a:off x="777240" y="4892040"/>
            <a:ext cx="4983480" cy="1143000"/>
          </a:xfrm>
          <a:prstGeom prst="rect">
            <a:avLst/>
          </a:prstGeom>
          <a:noFill/>
          <a:ln/>
        </p:spPr>
        <p:txBody>
          <a:bodyPr wrap="square" lIns="0" tIns="0" rIns="0" bIns="0" rtlCol="0" anchor="ctr"/>
          <a:lstStyle/>
          <a:p>
            <a:pPr>
              <a:lnSpc>
                <a:spcPct val="118000"/>
              </a:lnSpc>
            </a:pPr>
            <a:r>
              <a:rPr lang="en-US" sz="1200" dirty="0">
                <a:solidFill>
                  <a:srgbClr val="1B2733"/>
                </a:solidFill>
                <a:latin typeface="Calibri" pitchFamily="34" charset="0"/>
                <a:ea typeface="Calibri" pitchFamily="34" charset="-122"/>
                <a:cs typeface="Calibri" pitchFamily="34" charset="-120"/>
              </a:rPr>
              <a:t>To level out demand throughout the year, ticket prices should be raised during the peak July–August travel window to maximize revenue from high volume. Conversely, strategic promotions and discounts should be implemented in November to stimulate passenger traffic during lower-demand periods.</a:t>
            </a:r>
            <a:endParaRPr lang="en-US" sz="1200" dirty="0"/>
          </a:p>
        </p:txBody>
      </p:sp>
      <p:sp>
        <p:nvSpPr>
          <p:cNvPr id="19" name="Shape 17"/>
          <p:cNvSpPr/>
          <p:nvPr/>
        </p:nvSpPr>
        <p:spPr>
          <a:xfrm>
            <a:off x="6263640" y="4206240"/>
            <a:ext cx="5440680" cy="2148840"/>
          </a:xfrm>
          <a:prstGeom prst="roundRect">
            <a:avLst>
              <a:gd name="adj" fmla="val 3404"/>
            </a:avLst>
          </a:prstGeom>
          <a:solidFill>
            <a:srgbClr val="EAF4F8"/>
          </a:solidFill>
          <a:ln w="12700">
            <a:solidFill>
              <a:srgbClr val="DCE9EF"/>
            </a:solidFill>
            <a:prstDash val="solid"/>
          </a:ln>
        </p:spPr>
      </p:sp>
      <p:sp>
        <p:nvSpPr>
          <p:cNvPr id="20" name="Shape 18"/>
          <p:cNvSpPr/>
          <p:nvPr/>
        </p:nvSpPr>
        <p:spPr>
          <a:xfrm>
            <a:off x="6492240" y="4434840"/>
            <a:ext cx="457200" cy="457200"/>
          </a:xfrm>
          <a:prstGeom prst="roundRect">
            <a:avLst>
              <a:gd name="adj" fmla="val 50000"/>
            </a:avLst>
          </a:prstGeom>
          <a:solidFill>
            <a:srgbClr val="1C7293"/>
          </a:solidFill>
          <a:ln/>
        </p:spPr>
      </p:sp>
      <p:sp>
        <p:nvSpPr>
          <p:cNvPr id="21" name="Text 19"/>
          <p:cNvSpPr txBox="1"/>
          <p:nvPr/>
        </p:nvSpPr>
        <p:spPr>
          <a:xfrm>
            <a:off x="649224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132320" y="4407408"/>
            <a:ext cx="4343400" cy="548640"/>
          </a:xfrm>
          <a:prstGeom prst="rect">
            <a:avLst/>
          </a:prstGeom>
          <a:noFill/>
          <a:ln/>
        </p:spPr>
        <p:txBody>
          <a:bodyPr wrap="square" lIns="0" tIns="0" rIns="0" bIns="0" rtlCol="0" anchor="ctr"/>
          <a:lstStyle/>
          <a:p>
            <a:pPr marL="0" indent="0">
              <a:buNone/>
            </a:pPr>
            <a:r>
              <a:rPr lang="en-US" sz="1450" b="1" dirty="0">
                <a:solidFill>
                  <a:srgbClr val="21295C"/>
                </a:solidFill>
                <a:latin typeface="Cambria" pitchFamily="34" charset="0"/>
                <a:ea typeface="Cambria" pitchFamily="34" charset="-122"/>
                <a:cs typeface="Cambria" pitchFamily="34" charset="-120"/>
              </a:rPr>
              <a:t>Forecast-Based Planning</a:t>
            </a:r>
            <a:endParaRPr lang="en-US" sz="1450" dirty="0"/>
          </a:p>
        </p:txBody>
      </p:sp>
      <p:sp>
        <p:nvSpPr>
          <p:cNvPr id="23" name="Text 21"/>
          <p:cNvSpPr txBox="1"/>
          <p:nvPr/>
        </p:nvSpPr>
        <p:spPr>
          <a:xfrm>
            <a:off x="6492240" y="4935345"/>
            <a:ext cx="4983480" cy="1143000"/>
          </a:xfrm>
          <a:prstGeom prst="rect">
            <a:avLst/>
          </a:prstGeom>
          <a:noFill/>
          <a:ln/>
        </p:spPr>
        <p:txBody>
          <a:bodyPr wrap="square" lIns="0" tIns="0" rIns="0" bIns="0" rtlCol="0" anchor="ctr"/>
          <a:lstStyle/>
          <a:p>
            <a:pPr marL="0" indent="0">
              <a:lnSpc>
                <a:spcPct val="118000"/>
              </a:lnSpc>
              <a:buNone/>
            </a:pPr>
            <a:r>
              <a:rPr lang="en-US" sz="1200" dirty="0">
                <a:solidFill>
                  <a:srgbClr val="1B2733"/>
                </a:solidFill>
                <a:latin typeface="Calibri" pitchFamily="34" charset="0"/>
                <a:ea typeface="Calibri" pitchFamily="34" charset="-122"/>
                <a:cs typeface="Calibri" pitchFamily="34" charset="-120"/>
              </a:rPr>
              <a:t>Holt-Winters and Prophet forecasting models, which achieve a mean absolute percentage error of approximately 4%, should be utilized as a reliable baseline for monthly capacity and budget planning, accompanied by regular re-evaluations.</a:t>
            </a:r>
            <a:endParaRPr lang="en-US" sz="1200" dirty="0"/>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14</a:t>
            </a:r>
            <a:endParaRPr lang="en-US" sz="1000" dirty="0"/>
          </a:p>
        </p:txBody>
      </p:sp>
      <p:sp>
        <p:nvSpPr>
          <p:cNvPr id="27" name="Text 0">
            <a:extLst>
              <a:ext uri="{FF2B5EF4-FFF2-40B4-BE49-F238E27FC236}">
                <a16:creationId xmlns:a16="http://schemas.microsoft.com/office/drawing/2014/main" id="{CFCAF1B7-B826-6374-40E7-7BBAF766C11D}"/>
              </a:ext>
            </a:extLst>
          </p:cNvPr>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INSIGHT &amp; RECOMMENDATION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05 — REFERENCE &amp; DOCUMENTATION</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References &amp; Documentation</a:t>
            </a:r>
            <a:endParaRPr lang="en-US" sz="3200" dirty="0"/>
          </a:p>
        </p:txBody>
      </p:sp>
      <p:sp>
        <p:nvSpPr>
          <p:cNvPr id="4" name="Shape 2"/>
          <p:cNvSpPr/>
          <p:nvPr/>
        </p:nvSpPr>
        <p:spPr>
          <a:xfrm>
            <a:off x="548640" y="1783080"/>
            <a:ext cx="11064240" cy="1371600"/>
          </a:xfrm>
          <a:prstGeom prst="roundRect">
            <a:avLst>
              <a:gd name="adj" fmla="val 5333"/>
            </a:avLst>
          </a:prstGeom>
          <a:solidFill>
            <a:srgbClr val="EAF4F8"/>
          </a:solidFill>
          <a:ln w="12700">
            <a:solidFill>
              <a:srgbClr val="DCE9EF"/>
            </a:solidFill>
            <a:prstDash val="solid"/>
          </a:ln>
        </p:spPr>
      </p:sp>
      <p:sp>
        <p:nvSpPr>
          <p:cNvPr id="5" name="Text 3"/>
          <p:cNvSpPr txBox="1"/>
          <p:nvPr/>
        </p:nvSpPr>
        <p:spPr>
          <a:xfrm>
            <a:off x="822960" y="1947672"/>
            <a:ext cx="4572000" cy="36576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Google Colab</a:t>
            </a:r>
            <a:endParaRPr lang="en-US" sz="1500" dirty="0"/>
          </a:p>
        </p:txBody>
      </p:sp>
      <p:sp>
        <p:nvSpPr>
          <p:cNvPr id="6" name="Text 4"/>
          <p:cNvSpPr txBox="1"/>
          <p:nvPr/>
        </p:nvSpPr>
        <p:spPr>
          <a:xfrm>
            <a:off x="822960" y="2313432"/>
            <a:ext cx="9966960" cy="457200"/>
          </a:xfrm>
          <a:prstGeom prst="rect">
            <a:avLst/>
          </a:prstGeom>
          <a:noFill/>
          <a:ln/>
        </p:spPr>
        <p:txBody>
          <a:bodyPr wrap="square" lIns="0" tIns="0" rIns="0" bIns="0" rtlCol="0" anchor="ctr"/>
          <a:lstStyle/>
          <a:p>
            <a:pPr marL="0" indent="0">
              <a:buNone/>
            </a:pPr>
            <a:r>
              <a:rPr lang="en-US" sz="1200" dirty="0">
                <a:solidFill>
                  <a:srgbClr val="1B2733"/>
                </a:solidFill>
                <a:latin typeface="Calibri" pitchFamily="34" charset="0"/>
                <a:ea typeface="Calibri" pitchFamily="34" charset="-122"/>
                <a:cs typeface="Calibri" pitchFamily="34" charset="-120"/>
              </a:rPr>
              <a:t>Complete analysis notebook (preprocessing, decomposition, stationarity test, forecasting).</a:t>
            </a:r>
            <a:endParaRPr lang="en-US" sz="1200" dirty="0"/>
          </a:p>
        </p:txBody>
      </p:sp>
      <p:sp>
        <p:nvSpPr>
          <p:cNvPr id="7" name="Text 5"/>
          <p:cNvSpPr txBox="1"/>
          <p:nvPr/>
        </p:nvSpPr>
        <p:spPr>
          <a:xfrm>
            <a:off x="822960" y="2743200"/>
            <a:ext cx="9966960" cy="320040"/>
          </a:xfrm>
          <a:prstGeom prst="rect">
            <a:avLst/>
          </a:prstGeom>
          <a:noFill/>
          <a:ln/>
        </p:spPr>
        <p:txBody>
          <a:bodyPr wrap="square" lIns="0" tIns="0" rIns="0" bIns="0" rtlCol="0" anchor="ctr"/>
          <a:lstStyle/>
          <a:p>
            <a:pPr marL="0" indent="0">
              <a:buNone/>
            </a:pPr>
            <a:r>
              <a:rPr lang="en-US" sz="1150" i="1" dirty="0">
                <a:solidFill>
                  <a:srgbClr val="1C7293"/>
                </a:solidFill>
                <a:latin typeface="Calibri" pitchFamily="34" charset="0"/>
                <a:ea typeface="Calibri" pitchFamily="34" charset="-122"/>
                <a:cs typeface="Calibri" pitchFamily="34" charset="-120"/>
              </a:rPr>
              <a:t>[Tautan Google Colab — lengkapi sebelum dibagikan]</a:t>
            </a:r>
            <a:endParaRPr lang="en-US" sz="1150" dirty="0"/>
          </a:p>
        </p:txBody>
      </p:sp>
      <p:sp>
        <p:nvSpPr>
          <p:cNvPr id="8" name="Shape 6"/>
          <p:cNvSpPr/>
          <p:nvPr/>
        </p:nvSpPr>
        <p:spPr>
          <a:xfrm>
            <a:off x="548640" y="3337560"/>
            <a:ext cx="11064240" cy="1371600"/>
          </a:xfrm>
          <a:prstGeom prst="roundRect">
            <a:avLst>
              <a:gd name="adj" fmla="val 5333"/>
            </a:avLst>
          </a:prstGeom>
          <a:solidFill>
            <a:srgbClr val="EAF4F8"/>
          </a:solidFill>
          <a:ln w="12700">
            <a:solidFill>
              <a:srgbClr val="DCE9EF"/>
            </a:solidFill>
            <a:prstDash val="solid"/>
          </a:ln>
        </p:spPr>
      </p:sp>
      <p:sp>
        <p:nvSpPr>
          <p:cNvPr id="9" name="Text 7"/>
          <p:cNvSpPr txBox="1"/>
          <p:nvPr/>
        </p:nvSpPr>
        <p:spPr>
          <a:xfrm>
            <a:off x="822960" y="3502152"/>
            <a:ext cx="4572000" cy="36576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Dashboard Power BI</a:t>
            </a:r>
            <a:endParaRPr lang="en-US" sz="1500" dirty="0"/>
          </a:p>
        </p:txBody>
      </p:sp>
      <p:sp>
        <p:nvSpPr>
          <p:cNvPr id="10" name="Text 8"/>
          <p:cNvSpPr txBox="1"/>
          <p:nvPr/>
        </p:nvSpPr>
        <p:spPr>
          <a:xfrm>
            <a:off x="822960" y="3867912"/>
            <a:ext cx="9966960" cy="457200"/>
          </a:xfrm>
          <a:prstGeom prst="rect">
            <a:avLst/>
          </a:prstGeom>
          <a:noFill/>
          <a:ln/>
        </p:spPr>
        <p:txBody>
          <a:bodyPr wrap="square" lIns="0" tIns="0" rIns="0" bIns="0" rtlCol="0" anchor="ctr"/>
          <a:lstStyle/>
          <a:p>
            <a:r>
              <a:rPr lang="en-ID" sz="1200" dirty="0"/>
              <a:t>Interactive dashboard</a:t>
            </a:r>
            <a:endParaRPr lang="en-US" sz="1200" dirty="0"/>
          </a:p>
        </p:txBody>
      </p:sp>
      <p:sp>
        <p:nvSpPr>
          <p:cNvPr id="11" name="Text 9"/>
          <p:cNvSpPr txBox="1"/>
          <p:nvPr/>
        </p:nvSpPr>
        <p:spPr>
          <a:xfrm>
            <a:off x="822960" y="4297680"/>
            <a:ext cx="9966960" cy="320040"/>
          </a:xfrm>
          <a:prstGeom prst="rect">
            <a:avLst/>
          </a:prstGeom>
          <a:noFill/>
          <a:ln/>
        </p:spPr>
        <p:txBody>
          <a:bodyPr wrap="square" lIns="0" tIns="0" rIns="0" bIns="0" rtlCol="0" anchor="ctr"/>
          <a:lstStyle/>
          <a:p>
            <a:pPr marL="0" indent="0">
              <a:buNone/>
            </a:pPr>
            <a:r>
              <a:rPr lang="en-US" sz="1150" i="1" dirty="0">
                <a:solidFill>
                  <a:srgbClr val="1C7293"/>
                </a:solidFill>
                <a:latin typeface="Calibri" pitchFamily="34" charset="0"/>
                <a:ea typeface="Calibri" pitchFamily="34" charset="-122"/>
                <a:cs typeface="Calibri" pitchFamily="34" charset="-120"/>
              </a:rPr>
              <a:t>[Lampirkan file PDF dashboard — jika digunakan]</a:t>
            </a:r>
            <a:endParaRPr lang="en-US" sz="1150" dirty="0"/>
          </a:p>
        </p:txBody>
      </p:sp>
      <p:sp>
        <p:nvSpPr>
          <p:cNvPr id="12" name="Shape 10"/>
          <p:cNvSpPr/>
          <p:nvPr/>
        </p:nvSpPr>
        <p:spPr>
          <a:xfrm>
            <a:off x="548640" y="4892040"/>
            <a:ext cx="11064240" cy="1371600"/>
          </a:xfrm>
          <a:prstGeom prst="roundRect">
            <a:avLst>
              <a:gd name="adj" fmla="val 5333"/>
            </a:avLst>
          </a:prstGeom>
          <a:solidFill>
            <a:srgbClr val="EAF4F8"/>
          </a:solidFill>
          <a:ln w="12700">
            <a:solidFill>
              <a:srgbClr val="DCE9EF"/>
            </a:solidFill>
            <a:prstDash val="solid"/>
          </a:ln>
        </p:spPr>
      </p:sp>
      <p:sp>
        <p:nvSpPr>
          <p:cNvPr id="13" name="Text 11"/>
          <p:cNvSpPr txBox="1"/>
          <p:nvPr/>
        </p:nvSpPr>
        <p:spPr>
          <a:xfrm>
            <a:off x="822960" y="5056632"/>
            <a:ext cx="4572000" cy="36576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Screenshot Dashboard</a:t>
            </a:r>
            <a:endParaRPr lang="en-US" sz="1500" dirty="0"/>
          </a:p>
        </p:txBody>
      </p:sp>
      <p:sp>
        <p:nvSpPr>
          <p:cNvPr id="14" name="Text 12"/>
          <p:cNvSpPr txBox="1"/>
          <p:nvPr/>
        </p:nvSpPr>
        <p:spPr>
          <a:xfrm>
            <a:off x="822960" y="5422392"/>
            <a:ext cx="9966960" cy="457200"/>
          </a:xfrm>
          <a:prstGeom prst="rect">
            <a:avLst/>
          </a:prstGeom>
          <a:noFill/>
          <a:ln/>
        </p:spPr>
        <p:txBody>
          <a:bodyPr wrap="square" lIns="0" tIns="0" rIns="0" bIns="0" rtlCol="0" anchor="ctr"/>
          <a:lstStyle/>
          <a:p>
            <a:r>
              <a:rPr lang="en-ID" sz="1200" dirty="0"/>
              <a:t>Visual proof of the dashboard interface as documentation of the analysis results.</a:t>
            </a:r>
            <a:endParaRPr lang="en-US" sz="1200" dirty="0"/>
          </a:p>
        </p:txBody>
      </p:sp>
      <p:sp>
        <p:nvSpPr>
          <p:cNvPr id="15" name="Text 13"/>
          <p:cNvSpPr txBox="1"/>
          <p:nvPr/>
        </p:nvSpPr>
        <p:spPr>
          <a:xfrm>
            <a:off x="822960" y="5852160"/>
            <a:ext cx="9966960" cy="320040"/>
          </a:xfrm>
          <a:prstGeom prst="rect">
            <a:avLst/>
          </a:prstGeom>
          <a:noFill/>
          <a:ln/>
        </p:spPr>
        <p:txBody>
          <a:bodyPr wrap="square" lIns="0" tIns="0" rIns="0" bIns="0" rtlCol="0" anchor="ctr"/>
          <a:lstStyle/>
          <a:p>
            <a:pPr marL="0" indent="0">
              <a:buNone/>
            </a:pPr>
            <a:r>
              <a:rPr lang="en-US" sz="1150" i="1" dirty="0">
                <a:solidFill>
                  <a:srgbClr val="1C7293"/>
                </a:solidFill>
                <a:latin typeface="Calibri" pitchFamily="34" charset="0"/>
                <a:ea typeface="Calibri" pitchFamily="34" charset="-122"/>
                <a:cs typeface="Calibri" pitchFamily="34" charset="-120"/>
              </a:rPr>
              <a:t>[Sisipkan screenshot dashboard di sini]</a:t>
            </a:r>
            <a:endParaRPr lang="en-US" sz="1150" dirty="0"/>
          </a:p>
        </p:txBody>
      </p:sp>
      <p:sp>
        <p:nvSpPr>
          <p:cNvPr id="17" name="Text 15"/>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1000" dirty="0">
                <a:solidFill>
                  <a:srgbClr val="5B71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065A82">
              <a:alpha val="45000"/>
            </a:srgbClr>
          </a:solidFill>
          <a:ln/>
        </p:spPr>
      </p:sp>
      <p:sp>
        <p:nvSpPr>
          <p:cNvPr id="3" name="Shape 1"/>
          <p:cNvSpPr/>
          <p:nvPr/>
        </p:nvSpPr>
        <p:spPr>
          <a:xfrm>
            <a:off x="9601200" y="-2286000"/>
            <a:ext cx="5029200" cy="5029200"/>
          </a:xfrm>
          <a:prstGeom prst="ellipse">
            <a:avLst/>
          </a:prstGeom>
          <a:solidFill>
            <a:srgbClr val="1C7293">
              <a:alpha val="40000"/>
            </a:srgbClr>
          </a:solidFill>
          <a:ln/>
        </p:spPr>
      </p:sp>
      <p:sp>
        <p:nvSpPr>
          <p:cNvPr id="4" name="Text 2"/>
          <p:cNvSpPr txBox="1"/>
          <p:nvPr/>
        </p:nvSpPr>
        <p:spPr>
          <a:xfrm>
            <a:off x="822960" y="274320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822960" y="3657600"/>
            <a:ext cx="10058400" cy="457200"/>
          </a:xfrm>
          <a:prstGeom prst="rect">
            <a:avLst/>
          </a:prstGeom>
          <a:noFill/>
          <a:ln/>
        </p:spPr>
        <p:txBody>
          <a:bodyPr wrap="square" lIns="0" tIns="0" rIns="0" bIns="0" rtlCol="0" anchor="ctr"/>
          <a:lstStyle/>
          <a:p>
            <a:pPr marL="0" indent="0">
              <a:buNone/>
            </a:pPr>
            <a:r>
              <a:rPr lang="en-US" sz="1500" dirty="0">
                <a:solidFill>
                  <a:srgbClr val="9FC7DE"/>
                </a:solidFill>
                <a:latin typeface="Calibri" pitchFamily="34" charset="0"/>
                <a:ea typeface="Calibri" pitchFamily="34" charset="-122"/>
                <a:cs typeface="Calibri" pitchFamily="34" charset="-120"/>
              </a:rPr>
              <a:t>Analysis Time Series — Airline Passenger Data 1949–1960</a:t>
            </a:r>
          </a:p>
          <a:p>
            <a:pPr marL="0" indent="0">
              <a:buNone/>
            </a:pPr>
            <a:endParaRPr lang="en-US" sz="1500" dirty="0"/>
          </a:p>
        </p:txBody>
      </p:sp>
      <p:sp>
        <p:nvSpPr>
          <p:cNvPr id="6" name="TextBox 5">
            <a:extLst>
              <a:ext uri="{FF2B5EF4-FFF2-40B4-BE49-F238E27FC236}">
                <a16:creationId xmlns:a16="http://schemas.microsoft.com/office/drawing/2014/main" id="{8D7A1A35-946E-EE5E-8C12-6F914153404D}"/>
              </a:ext>
            </a:extLst>
          </p:cNvPr>
          <p:cNvSpPr txBox="1"/>
          <p:nvPr/>
        </p:nvSpPr>
        <p:spPr>
          <a:xfrm>
            <a:off x="8799546" y="6410101"/>
            <a:ext cx="4163627" cy="307777"/>
          </a:xfrm>
          <a:prstGeom prst="rect">
            <a:avLst/>
          </a:prstGeom>
          <a:noFill/>
        </p:spPr>
        <p:txBody>
          <a:bodyPr wrap="square" rtlCol="0">
            <a:spAutoFit/>
          </a:bodyPr>
          <a:lstStyle/>
          <a:p>
            <a:r>
              <a:rPr lang="en-US" sz="1400" dirty="0">
                <a:solidFill>
                  <a:schemeClr val="bg2"/>
                </a:solidFill>
              </a:rPr>
              <a:t>Dataset : </a:t>
            </a:r>
            <a:r>
              <a:rPr lang="en-US" sz="1400" dirty="0">
                <a:solidFill>
                  <a:schemeClr val="bg2"/>
                </a:solidFill>
                <a:hlinkClick r:id="rId3"/>
              </a:rPr>
              <a:t>Airline Passenger Dataset </a:t>
            </a:r>
            <a:r>
              <a:rPr lang="en-US" sz="1400" dirty="0" err="1">
                <a:solidFill>
                  <a:schemeClr val="bg2"/>
                </a:solidFill>
                <a:hlinkClick r:id="rId3"/>
              </a:rPr>
              <a:t>Colab</a:t>
            </a:r>
            <a:r>
              <a:rPr lang="en-US" sz="1400" dirty="0">
                <a:solidFill>
                  <a:schemeClr val="bg2"/>
                </a:solidFill>
                <a:hlinkClick r:id="rId3"/>
              </a:rPr>
              <a:t> </a:t>
            </a:r>
            <a:endParaRPr lang="en-ID" sz="1400" dirty="0">
              <a:solidFill>
                <a:schemeClr val="bg2"/>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Orange Experience</Template>
  <TotalTime>81</TotalTime>
  <Words>1365</Words>
  <Application>Microsoft Office PowerPoint</Application>
  <PresentationFormat>Widescreen</PresentationFormat>
  <Paragraphs>197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Muhammad Hafizh Rifandi</cp:lastModifiedBy>
  <cp:revision>2</cp:revision>
  <dcterms:created xsi:type="dcterms:W3CDTF">2026-09-11T15:27:03Z</dcterms:created>
  <dcterms:modified xsi:type="dcterms:W3CDTF">2026-09-11T17:29:59Z</dcterms:modified>
</cp:coreProperties>
</file>